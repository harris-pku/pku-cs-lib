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7" r:id="rId11"/>
    <p:sldId id="269" r:id="rId12"/>
    <p:sldId id="271" r:id="rId13"/>
    <p:sldId id="270" r:id="rId14"/>
    <p:sldId id="282" r:id="rId15"/>
    <p:sldId id="283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6858000" type="screen4x3"/>
  <p:notesSz cx="6858000" cy="9144000"/>
  <p:embeddedFontLst>
    <p:embeddedFont>
      <p:font typeface="Century Gothic" pitchFamily="34" charset="0"/>
      <p:regular r:id="rId27"/>
      <p:bold r:id="rId28"/>
      <p:italic r:id="rId29"/>
      <p:boldItalic r:id="rId30"/>
    </p:embeddedFont>
    <p:embeddedFont>
      <p:font typeface="Wingdings 3" pitchFamily="18" charset="2"/>
      <p:regular r:id="rId31"/>
    </p:embeddedFont>
    <p:embeddedFont>
      <p:font typeface="DejaVu Sans Mono" charset="0"/>
      <p:regular r:id="rId32"/>
      <p:bold r:id="rId33"/>
      <p:italic r:id="rId34"/>
      <p:boldItalic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-121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21788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710002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94842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5354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367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78606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87498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439438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74128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667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642392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312350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780812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056219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16144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867896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07885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982B6BF-57DF-4EE9-AE92-4BE0C37EA08D}" type="datetimeFigureOut">
              <a:rPr lang="zh-CN" altLang="en-US" smtClean="0"/>
              <a:pPr/>
              <a:t>2015/3/26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14ED4-23BF-4DE8-8D13-7474E578A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5581694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OpenGL</a:t>
            </a:r>
            <a:br>
              <a:rPr lang="en-US" altLang="zh-CN" dirty="0" smtClean="0"/>
            </a:br>
            <a:r>
              <a:rPr lang="zh-CN" altLang="en-US" dirty="0" smtClean="0"/>
              <a:t>编程</a:t>
            </a:r>
            <a:r>
              <a:rPr lang="zh-CN" altLang="en-US" dirty="0" smtClean="0"/>
              <a:t>实例</a:t>
            </a:r>
            <a:r>
              <a:rPr lang="zh-CN" altLang="en-US" dirty="0" smtClean="0"/>
              <a:t>示范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43907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简单</a:t>
            </a:r>
            <a:r>
              <a:rPr lang="zh-CN" altLang="en-US" sz="3600" dirty="0" smtClean="0"/>
              <a:t>物体变换绘制</a:t>
            </a:r>
            <a:endParaRPr lang="en-US" altLang="zh-CN" sz="3600" dirty="0" smtClean="0"/>
          </a:p>
          <a:p>
            <a:r>
              <a:rPr lang="zh-CN" altLang="en-US" sz="3600" dirty="0" smtClean="0"/>
              <a:t>多重纹理贴图</a:t>
            </a:r>
            <a:endParaRPr lang="en-US" altLang="zh-CN" sz="3600" dirty="0" smtClean="0"/>
          </a:p>
          <a:p>
            <a:r>
              <a:rPr lang="zh-CN" altLang="en-US" sz="3600" dirty="0" smtClean="0"/>
              <a:t>运动</a:t>
            </a:r>
            <a:r>
              <a:rPr lang="zh-CN" altLang="en-US" sz="3600" dirty="0"/>
              <a:t>模糊</a:t>
            </a:r>
          </a:p>
        </p:txBody>
      </p:sp>
    </p:spTree>
    <p:extLst>
      <p:ext uri="{BB962C8B-B14F-4D97-AF65-F5344CB8AC3E}">
        <p14:creationId xmlns="" xmlns:p14="http://schemas.microsoft.com/office/powerpoint/2010/main" val="47153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简单物体绘制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88" y="2262783"/>
            <a:ext cx="6711950" cy="3775471"/>
          </a:xfrm>
        </p:spPr>
      </p:pic>
    </p:spTree>
    <p:extLst>
      <p:ext uri="{BB962C8B-B14F-4D97-AF65-F5344CB8AC3E}">
        <p14:creationId xmlns="" xmlns:p14="http://schemas.microsoft.com/office/powerpoint/2010/main" val="34737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模型表示（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const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float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cubeVertices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[8][3] =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{-1, -1, -1},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{+1, -1, -1},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{-1, +1, -1},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{+1, +1, -1},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{-1, -1, +1},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{+1, -1, +1},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{-1, +1, +1},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{+1, +1, +1}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};</a:t>
            </a:r>
            <a:endParaRPr lang="en-US" altLang="zh-CN"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262" y="2717800"/>
            <a:ext cx="3009900" cy="2876550"/>
          </a:xfrm>
        </p:spPr>
      </p:pic>
    </p:spTree>
    <p:extLst>
      <p:ext uri="{BB962C8B-B14F-4D97-AF65-F5344CB8AC3E}">
        <p14:creationId xmlns="" xmlns:p14="http://schemas.microsoft.com/office/powerpoint/2010/main" val="321688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模型表示（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const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unsigned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cubeVertexIds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[6][4] =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{0, 1, 5, 4},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{1, 3, 7, 5},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{3, 2, 6, 7},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{2, 0, 4, 6},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{2, 3, 1, 0},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{4, 5, 7, 6}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};</a:t>
            </a:r>
          </a:p>
          <a:p>
            <a:pPr marL="0" indent="0">
              <a:buNone/>
            </a:pPr>
            <a:endParaRPr lang="zh-CN" altLang="en-US" sz="1600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262" y="2717800"/>
            <a:ext cx="3009900" cy="2876550"/>
          </a:xfrm>
        </p:spPr>
      </p:pic>
    </p:spTree>
    <p:extLst>
      <p:ext uri="{BB962C8B-B14F-4D97-AF65-F5344CB8AC3E}">
        <p14:creationId xmlns="" xmlns:p14="http://schemas.microsoft.com/office/powerpoint/2010/main" val="172669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模型表示（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const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float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cubeSideColors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[6][3] =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{1, 0, 0},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{0, 1, 0},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{0, 0, 1},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{0, 1, 1},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{1, 0, 1},</a:t>
            </a:r>
          </a:p>
          <a:p>
            <a:pPr marL="0" indent="0">
              <a:buNone/>
            </a:pPr>
            <a:r>
              <a:rPr lang="zh-CN" altLang="en-US" sz="16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{1, 1, 0}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};</a:t>
            </a:r>
          </a:p>
          <a:p>
            <a:pPr marL="0" indent="0">
              <a:buNone/>
            </a:pPr>
            <a:endParaRPr lang="zh-CN" altLang="en-US" sz="1600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262" y="2717800"/>
            <a:ext cx="3009900" cy="2876550"/>
          </a:xfrm>
        </p:spPr>
      </p:pic>
    </p:spTree>
    <p:extLst>
      <p:ext uri="{BB962C8B-B14F-4D97-AF65-F5344CB8AC3E}">
        <p14:creationId xmlns="" xmlns:p14="http://schemas.microsoft.com/office/powerpoint/2010/main" val="409394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绘制模型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void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drawCube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glBegin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(GL_QUADS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for(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int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side = 0; side &lt; 6; ++side)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</a:t>
            </a:r>
            <a:endParaRPr lang="en-US" altLang="zh-CN"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glColor3fv(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cubeSideColors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[side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]);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for(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int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vertex = 0; vertex &lt; 4; ++vertex)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glVertex3fv(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cubeVertices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cubeVertexIds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[side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][vertex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]]);</a:t>
            </a:r>
            <a:endParaRPr lang="en-US" altLang="zh-CN"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}</a:t>
            </a:r>
            <a:endParaRPr lang="en-US" altLang="zh-CN"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glEnd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zh-CN" altLang="en-US" sz="1600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7272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顶点</a:t>
            </a:r>
            <a:r>
              <a:rPr lang="zh-CN" altLang="en-US" dirty="0" smtClean="0"/>
              <a:t>变换（固定管线）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699" y="2052925"/>
            <a:ext cx="7176613" cy="4195481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 3" pitchFamily="18" charset="2"/>
              <a:buNone/>
            </a:pP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for (</a:t>
            </a:r>
            <a:r>
              <a:rPr lang="en-US" altLang="zh-CN" sz="1600" dirty="0" err="1">
                <a:latin typeface="DejaVu Sans Mono" pitchFamily="1" charset="0"/>
                <a:sym typeface="DejaVu Sans Mono" pitchFamily="1" charset="0"/>
              </a:rPr>
              <a:t>int</a:t>
            </a: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 y = -20; y &lt;= 20; y += 4)</a:t>
            </a:r>
          </a:p>
          <a:p>
            <a:pPr marL="0" indent="0">
              <a:lnSpc>
                <a:spcPct val="80000"/>
              </a:lnSpc>
              <a:buFont typeface="Wingdings 3" pitchFamily="18" charset="2"/>
              <a:buNone/>
            </a:pP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{</a:t>
            </a:r>
          </a:p>
          <a:p>
            <a:pPr marL="0" indent="0">
              <a:lnSpc>
                <a:spcPct val="80000"/>
              </a:lnSpc>
              <a:buFont typeface="Wingdings 3" pitchFamily="18" charset="2"/>
              <a:buNone/>
            </a:pP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	</a:t>
            </a:r>
            <a:r>
              <a:rPr lang="en-US" altLang="zh-CN" sz="1600" dirty="0" smtClean="0">
                <a:latin typeface="DejaVu Sans Mono" pitchFamily="1" charset="0"/>
                <a:sym typeface="DejaVu Sans Mono" pitchFamily="1" charset="0"/>
              </a:rPr>
              <a:t>for </a:t>
            </a: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(</a:t>
            </a:r>
            <a:r>
              <a:rPr lang="en-US" altLang="zh-CN" sz="1600" dirty="0" err="1">
                <a:latin typeface="DejaVu Sans Mono" pitchFamily="1" charset="0"/>
                <a:sym typeface="DejaVu Sans Mono" pitchFamily="1" charset="0"/>
              </a:rPr>
              <a:t>int</a:t>
            </a: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 x = -20; x &lt;= 20; x += 4)</a:t>
            </a:r>
          </a:p>
          <a:p>
            <a:pPr marL="0" indent="0">
              <a:lnSpc>
                <a:spcPct val="80000"/>
              </a:lnSpc>
              <a:buFont typeface="Wingdings 3" pitchFamily="18" charset="2"/>
              <a:buNone/>
            </a:pP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	</a:t>
            </a:r>
            <a:r>
              <a:rPr lang="en-US" altLang="zh-CN" sz="1600" dirty="0" smtClean="0">
                <a:latin typeface="DejaVu Sans Mono" pitchFamily="1" charset="0"/>
                <a:sym typeface="DejaVu Sans Mono" pitchFamily="1" charset="0"/>
              </a:rPr>
              <a:t>{</a:t>
            </a:r>
            <a:endParaRPr lang="en-US" altLang="zh-CN" sz="1600" dirty="0">
              <a:latin typeface="DejaVu Sans Mono" pitchFamily="1" charset="0"/>
              <a:sym typeface="DejaVu Sans Mono" pitchFamily="1" charset="0"/>
            </a:endParaRPr>
          </a:p>
          <a:p>
            <a:pPr marL="0" indent="0">
              <a:lnSpc>
                <a:spcPct val="80000"/>
              </a:lnSpc>
              <a:buFont typeface="Wingdings 3" pitchFamily="18" charset="2"/>
              <a:buNone/>
            </a:pP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		</a:t>
            </a:r>
            <a:r>
              <a:rPr lang="en-US" altLang="zh-CN" sz="1600" dirty="0" err="1">
                <a:latin typeface="DejaVu Sans Mono" pitchFamily="1" charset="0"/>
                <a:sym typeface="DejaVu Sans Mono" pitchFamily="1" charset="0"/>
              </a:rPr>
              <a:t>glLoadIdentity</a:t>
            </a: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();</a:t>
            </a:r>
          </a:p>
          <a:p>
            <a:pPr marL="0" indent="0">
              <a:lnSpc>
                <a:spcPct val="80000"/>
              </a:lnSpc>
              <a:buFont typeface="Wingdings 3" pitchFamily="18" charset="2"/>
              <a:buNone/>
            </a:pP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		</a:t>
            </a:r>
            <a:r>
              <a:rPr lang="en-US" altLang="zh-CN" sz="1600" dirty="0" err="1">
                <a:latin typeface="DejaVu Sans Mono" pitchFamily="1" charset="0"/>
                <a:sym typeface="DejaVu Sans Mono" pitchFamily="1" charset="0"/>
              </a:rPr>
              <a:t>gluLookAt</a:t>
            </a: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(</a:t>
            </a:r>
            <a:r>
              <a:rPr lang="en-US" altLang="zh-CN" sz="1600" dirty="0" err="1">
                <a:latin typeface="DejaVu Sans Mono" pitchFamily="1" charset="0"/>
                <a:sym typeface="DejaVu Sans Mono" pitchFamily="1" charset="0"/>
              </a:rPr>
              <a:t>cameraX</a:t>
            </a: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, </a:t>
            </a:r>
            <a:r>
              <a:rPr lang="en-US" altLang="zh-CN" sz="1600" dirty="0" err="1">
                <a:latin typeface="DejaVu Sans Mono" pitchFamily="1" charset="0"/>
                <a:sym typeface="DejaVu Sans Mono" pitchFamily="1" charset="0"/>
              </a:rPr>
              <a:t>cameraY</a:t>
            </a: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, 20, 0, 0, 0, 0, 0, 1);</a:t>
            </a:r>
          </a:p>
          <a:p>
            <a:pPr marL="0" indent="0">
              <a:lnSpc>
                <a:spcPct val="80000"/>
              </a:lnSpc>
              <a:buFont typeface="Wingdings 3" pitchFamily="18" charset="2"/>
              <a:buNone/>
            </a:pP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		</a:t>
            </a:r>
            <a:r>
              <a:rPr lang="en-US" altLang="zh-CN" sz="1600" dirty="0" err="1">
                <a:latin typeface="DejaVu Sans Mono" pitchFamily="1" charset="0"/>
                <a:sym typeface="DejaVu Sans Mono" pitchFamily="1" charset="0"/>
              </a:rPr>
              <a:t>glTranslatef</a:t>
            </a: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(float(x), float(y), 0.0f);</a:t>
            </a:r>
          </a:p>
          <a:p>
            <a:pPr marL="0" indent="0">
              <a:lnSpc>
                <a:spcPct val="80000"/>
              </a:lnSpc>
              <a:buFont typeface="Wingdings 3" pitchFamily="18" charset="2"/>
              <a:buNone/>
            </a:pP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		</a:t>
            </a:r>
            <a:r>
              <a:rPr lang="en-US" altLang="zh-CN" sz="1600" dirty="0" err="1">
                <a:latin typeface="DejaVu Sans Mono" pitchFamily="1" charset="0"/>
                <a:sym typeface="DejaVu Sans Mono" pitchFamily="1" charset="0"/>
              </a:rPr>
              <a:t>drawCube</a:t>
            </a: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();</a:t>
            </a:r>
          </a:p>
          <a:p>
            <a:pPr marL="0" indent="0">
              <a:lnSpc>
                <a:spcPct val="80000"/>
              </a:lnSpc>
              <a:buFont typeface="Wingdings 3" pitchFamily="18" charset="2"/>
              <a:buNone/>
            </a:pPr>
            <a:r>
              <a:rPr lang="en-US" altLang="zh-CN" sz="1600" dirty="0">
                <a:latin typeface="DejaVu Sans Mono" pitchFamily="1" charset="0"/>
                <a:sym typeface="DejaVu Sans Mono" pitchFamily="1" charset="0"/>
              </a:rPr>
              <a:t>	</a:t>
            </a:r>
            <a:r>
              <a:rPr lang="en-US" altLang="zh-CN" sz="1600" dirty="0" smtClean="0">
                <a:latin typeface="DejaVu Sans Mono" pitchFamily="1" charset="0"/>
                <a:sym typeface="DejaVu Sans Mono" pitchFamily="1" charset="0"/>
              </a:rPr>
              <a:t>}</a:t>
            </a:r>
            <a:endParaRPr lang="en-US" altLang="zh-CN" sz="1600" dirty="0">
              <a:latin typeface="DejaVu Sans Mono" pitchFamily="1" charset="0"/>
              <a:sym typeface="DejaVu Sans Mono" pitchFamily="1" charset="0"/>
            </a:endParaRPr>
          </a:p>
          <a:p>
            <a:pPr marL="0" indent="0">
              <a:lnSpc>
                <a:spcPct val="80000"/>
              </a:lnSpc>
              <a:buFont typeface="Wingdings 3" pitchFamily="18" charset="2"/>
              <a:buNone/>
            </a:pPr>
            <a:r>
              <a:rPr lang="en-US" altLang="zh-CN" sz="1600" dirty="0" smtClean="0">
                <a:latin typeface="DejaVu Sans Mono" pitchFamily="1" charset="0"/>
                <a:sym typeface="DejaVu Sans Mono" pitchFamily="1" charset="0"/>
              </a:rPr>
              <a:t>}</a:t>
            </a:r>
            <a:endParaRPr lang="en-US" altLang="zh-CN" sz="1600" dirty="0">
              <a:latin typeface="DejaVu Sans Mono" pitchFamily="1" charset="0"/>
              <a:sym typeface="DejaVu Sans Mono" pitchFamily="1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19078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顶点变换（可编程管线）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uniform vec3 center;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varying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vec4 color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void main()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gl_Position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=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gl_ModelViewProjectionMatrix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*</a:t>
            </a:r>
            <a:endParaRPr lang="en-US" altLang="zh-CN"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vec4(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gl_Vertex.xyz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+ center, 1.0);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color =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gl_Color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}</a:t>
            </a:r>
            <a:endParaRPr lang="en-US" altLang="zh-CN"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3017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顶点变换（可编程管线）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14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glUseProgram</a:t>
            </a: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(program</a:t>
            </a:r>
            <a:r>
              <a:rPr lang="en-US" altLang="zh-CN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for(</a:t>
            </a:r>
            <a:r>
              <a:rPr lang="en-US" altLang="zh-CN" sz="14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int</a:t>
            </a: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 = -20; y &lt;= 20; y += 4)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{</a:t>
            </a:r>
            <a:endParaRPr lang="en-US" altLang="zh-CN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for(</a:t>
            </a:r>
            <a:r>
              <a:rPr lang="en-US" altLang="zh-CN" sz="14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int</a:t>
            </a: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x = -20; x &lt;= 20; x += 4)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{</a:t>
            </a:r>
            <a:endParaRPr lang="en-US" altLang="zh-CN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glUniform3f(</a:t>
            </a:r>
            <a:r>
              <a:rPr lang="en-US" altLang="zh-CN" sz="14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uniformCenter</a:t>
            </a:r>
            <a:r>
              <a:rPr lang="en-US" altLang="zh-CN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 float(x), float(y), 0.0f);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</a:t>
            </a:r>
            <a:r>
              <a:rPr lang="en-US" altLang="zh-CN" sz="14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drawCube</a:t>
            </a:r>
            <a:r>
              <a:rPr lang="en-US" altLang="zh-CN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}</a:t>
            </a:r>
            <a:endParaRPr lang="en-US" altLang="zh-CN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}</a:t>
            </a:r>
            <a:endParaRPr lang="en-US" altLang="zh-CN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4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glUseProgram</a:t>
            </a:r>
            <a:r>
              <a:rPr lang="en-US" altLang="zh-CN" sz="14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(0</a:t>
            </a:r>
            <a:r>
              <a:rPr lang="en-US" altLang="zh-CN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);</a:t>
            </a:r>
            <a:endParaRPr lang="zh-CN" altLang="en-US" sz="1400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991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多重纹理贴图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88" y="2262783"/>
            <a:ext cx="6711950" cy="3775471"/>
          </a:xfrm>
        </p:spPr>
      </p:pic>
    </p:spTree>
    <p:extLst>
      <p:ext uri="{BB962C8B-B14F-4D97-AF65-F5344CB8AC3E}">
        <p14:creationId xmlns="" xmlns:p14="http://schemas.microsoft.com/office/powerpoint/2010/main" val="207543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纹理混合</a:t>
            </a:r>
          </a:p>
        </p:txBody>
      </p:sp>
      <p:pic>
        <p:nvPicPr>
          <p:cNvPr id="13" name="内容占位符 1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88" y="3307931"/>
            <a:ext cx="6711950" cy="1685176"/>
          </a:xfrm>
        </p:spPr>
      </p:pic>
    </p:spTree>
    <p:extLst>
      <p:ext uri="{BB962C8B-B14F-4D97-AF65-F5344CB8AC3E}">
        <p14:creationId xmlns="" xmlns:p14="http://schemas.microsoft.com/office/powerpoint/2010/main" val="343602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</a:t>
            </a:r>
            <a:r>
              <a:rPr lang="zh-CN" altLang="en-US" dirty="0" smtClean="0"/>
              <a:t>纹理（固定管线）</a:t>
            </a:r>
            <a:endParaRPr lang="zh-CN" altLang="en-US" dirty="0"/>
          </a:p>
        </p:txBody>
      </p:sp>
      <p:pic>
        <p:nvPicPr>
          <p:cNvPr id="18" name="内容占位符 1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88" y="3073624"/>
            <a:ext cx="6711950" cy="2153790"/>
          </a:xfrm>
        </p:spPr>
      </p:pic>
    </p:spTree>
    <p:extLst>
      <p:ext uri="{BB962C8B-B14F-4D97-AF65-F5344CB8AC3E}">
        <p14:creationId xmlns="" xmlns:p14="http://schemas.microsoft.com/office/powerpoint/2010/main" val="103783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多重纹理（固定管线）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699" y="2052925"/>
            <a:ext cx="7507917" cy="4195481"/>
          </a:xfrm>
        </p:spPr>
        <p:txBody>
          <a:bodyPr>
            <a:normAutofit/>
          </a:bodyPr>
          <a:lstStyle/>
          <a:p>
            <a:pPr marL="0" indent="0">
              <a:buFont typeface="Wingdings 3" pitchFamily="18" charset="2"/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glActiveTexture(GL_TEXTURE0);</a:t>
            </a:r>
          </a:p>
          <a:p>
            <a:pPr marL="0" indent="0">
              <a:buFont typeface="Wingdings 3" pitchFamily="18" charset="2"/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glEnable(GL_TEXTURE_2D);</a:t>
            </a:r>
          </a:p>
          <a:p>
            <a:pPr marL="0" indent="0">
              <a:buFont typeface="Wingdings 3" pitchFamily="18" charset="2"/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glBindTexture(GL_TEXTURE_2D, textures[0]);</a:t>
            </a:r>
          </a:p>
          <a:p>
            <a:pPr marL="0" indent="0">
              <a:buFont typeface="Wingdings 3" pitchFamily="18" charset="2"/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glTexEnvi(GL_TEXTURE_ENV, GL_TEXTURE_ENV_MODE, GL_REPLACE);</a:t>
            </a:r>
          </a:p>
          <a:p>
            <a:pPr marL="0" indent="0">
              <a:buFont typeface="Wingdings 3" pitchFamily="18" charset="2"/>
              <a:buNone/>
            </a:pPr>
            <a:endParaRPr lang="zh-CN" altLang="zh-CN" sz="1600" dirty="0">
              <a:latin typeface="DejaVu Sans Mono" charset="0"/>
              <a:cs typeface="DejaVu Sans Mono" charset="0"/>
            </a:endParaRPr>
          </a:p>
          <a:p>
            <a:pPr marL="0" indent="0">
              <a:buFont typeface="Wingdings 3" pitchFamily="18" charset="2"/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glActiveTexture(GL_TEXTURE1);</a:t>
            </a:r>
          </a:p>
          <a:p>
            <a:pPr marL="0" indent="0">
              <a:buFont typeface="Wingdings 3" pitchFamily="18" charset="2"/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glEnable(GL_TEXTURE_2D);</a:t>
            </a:r>
          </a:p>
          <a:p>
            <a:pPr marL="0" indent="0">
              <a:buFont typeface="Wingdings 3" pitchFamily="18" charset="2"/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glBindTexture(GL_TEXTURE_2D, textures[1]);</a:t>
            </a:r>
          </a:p>
          <a:p>
            <a:pPr marL="0" indent="0">
              <a:buFont typeface="Wingdings 3" pitchFamily="18" charset="2"/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glTexEnvi(GL_TEXTURE_ENV, GL_TEXTURE_ENV_MODE, GL_MODULATE);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77613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多重纹理（固定管线）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glMultiTexCoord2f(GL_TEXTURE0, 0.0f, 0.0f);</a:t>
            </a:r>
          </a:p>
          <a:p>
            <a:pPr marL="0" indent="0">
              <a:buNone/>
            </a:pPr>
            <a:r>
              <a:rPr lang="zh-CN" altLang="zh-CN" sz="1600" dirty="0" smtClean="0">
                <a:latin typeface="DejaVu Sans Mono" charset="0"/>
                <a:cs typeface="DejaVu Sans Mono" charset="0"/>
                <a:sym typeface="DejaVu Sans Mono" pitchFamily="1" charset="0"/>
              </a:rPr>
              <a:t>glMultiTexCoord</a:t>
            </a: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2f(GL_TEXTURE1, 0.0f, 0.0f);</a:t>
            </a:r>
          </a:p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glVertex3fv(cubeVertices[cubeVertexIds[side][0]]);</a:t>
            </a:r>
          </a:p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glMultiTexCoord2f(GL_TEXTURE0, 1.0f, 0.0f);</a:t>
            </a:r>
          </a:p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glMultiTexCoord2f(GL_TEXTURE1, 1.0f, 0.0f);</a:t>
            </a:r>
          </a:p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glVertex3fv(cubeVertices[cubeVertexIds[side][1]]);</a:t>
            </a:r>
          </a:p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glMultiTexCoord2f(GL_TEXTURE0, 1.0f, 1.0f);</a:t>
            </a:r>
          </a:p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glMultiTexCoord2f(GL_TEXTURE1, 1.0f, 1.0f);</a:t>
            </a:r>
          </a:p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glVertex3fv(cubeVertices[cubeVertexIds[side][2]]);</a:t>
            </a:r>
          </a:p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glMultiTexCoord2f(GL_TEXTURE0, 0.0f, 1.0f);</a:t>
            </a:r>
          </a:p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glMultiTexCoord2f(GL_TEXTURE1, 0.0f, 1.0f);</a:t>
            </a:r>
          </a:p>
          <a:p>
            <a:pPr marL="0" indent="0">
              <a:buNone/>
            </a:pPr>
            <a:r>
              <a:rPr lang="zh-CN" altLang="zh-CN" sz="1600" dirty="0">
                <a:latin typeface="DejaVu Sans Mono" charset="0"/>
                <a:cs typeface="DejaVu Sans Mono" charset="0"/>
                <a:sym typeface="DejaVu Sans Mono" pitchFamily="1" charset="0"/>
              </a:rPr>
              <a:t>glVertex3fv(cubeVertices[cubeVertexIds[side][3]]);</a:t>
            </a:r>
          </a:p>
          <a:p>
            <a:pPr marL="0" indent="0">
              <a:buNone/>
            </a:pPr>
            <a:endParaRPr lang="zh-CN" altLang="en-US" sz="1600" dirty="0">
              <a:latin typeface="DejaVu Sans Mono" charset="0"/>
              <a:cs typeface="DejaVu Sans Mono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337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多重纹理（可编程管线）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uniform sampler2D tex0;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uniform sampler2D tex1;</a:t>
            </a:r>
          </a:p>
          <a:p>
            <a:pPr marL="0" indent="0">
              <a:buNone/>
            </a:pPr>
            <a:endParaRPr lang="en-US" altLang="zh-CN" sz="1600" dirty="0" smtClean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vec4 color0 = texture2D(tex0,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texcoord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vec4 color1 = texture2D(tex1,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texcoord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gl_FragColor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= color0 * color1;</a:t>
            </a:r>
            <a:endParaRPr lang="zh-CN" altLang="en-US" sz="1600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594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运动模糊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88" y="2262783"/>
            <a:ext cx="6711950" cy="3775471"/>
          </a:xfrm>
        </p:spPr>
      </p:pic>
    </p:spTree>
    <p:extLst>
      <p:ext uri="{BB962C8B-B14F-4D97-AF65-F5344CB8AC3E}">
        <p14:creationId xmlns="" xmlns:p14="http://schemas.microsoft.com/office/powerpoint/2010/main" val="37850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基本实现原理</a:t>
            </a:r>
            <a:endParaRPr lang="zh-CN" altLang="en-US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0" dirty="0" smtClean="0"/>
                  <a:t>帧间加权累加</a:t>
                </a:r>
                <a:endParaRPr lang="en-US" altLang="zh-CN" b="0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𝑂𝑢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𝐹𝑟𝑎𝑚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𝐹𝑟𝑎𝑚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𝐹𝑟𝑎𝑚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𝐹𝑟𝑎𝑚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+…)</m:t>
                    </m:r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b="0" dirty="0" smtClean="0"/>
                  <a:t>归一化常数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=1/(1+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+…)</m:t>
                    </m:r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𝑂𝑢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𝐹𝑟𝑎𝑚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𝑂𝑢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454" t="-1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228152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累积</a:t>
            </a:r>
            <a:r>
              <a:rPr lang="zh-CN" altLang="en-US" dirty="0" smtClean="0"/>
              <a:t>缓冲区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DejaVu Sans Mono" charset="0"/>
                <a:ea typeface="DejaVu Sans Mono" charset="0"/>
                <a:cs typeface="DejaVu Sans Mono" charset="0"/>
              </a:rPr>
              <a:t>void </a:t>
            </a:r>
            <a:r>
              <a:rPr lang="en-US" altLang="zh-CN" dirty="0" err="1">
                <a:latin typeface="DejaVu Sans Mono" charset="0"/>
                <a:ea typeface="DejaVu Sans Mono" charset="0"/>
                <a:cs typeface="DejaVu Sans Mono" charset="0"/>
              </a:rPr>
              <a:t>glAccum</a:t>
            </a:r>
            <a:r>
              <a:rPr lang="en-US" altLang="zh-CN" dirty="0">
                <a:latin typeface="DejaVu Sans Mono" charset="0"/>
                <a:ea typeface="DejaVu Sans Mono" charset="0"/>
                <a:cs typeface="DejaVu Sans Mono" charset="0"/>
              </a:rPr>
              <a:t>(</a:t>
            </a:r>
            <a:r>
              <a:rPr lang="en-US" altLang="zh-CN" dirty="0" err="1">
                <a:latin typeface="DejaVu Sans Mono" charset="0"/>
                <a:ea typeface="DejaVu Sans Mono" charset="0"/>
                <a:cs typeface="DejaVu Sans Mono" charset="0"/>
              </a:rPr>
              <a:t>GLenum</a:t>
            </a:r>
            <a:r>
              <a:rPr lang="en-US" altLang="zh-CN" dirty="0">
                <a:latin typeface="DejaVu Sans Mono" charset="0"/>
                <a:ea typeface="DejaVu Sans Mono" charset="0"/>
                <a:cs typeface="DejaVu Sans Mono" charset="0"/>
              </a:rPr>
              <a:t> op, </a:t>
            </a:r>
            <a:r>
              <a:rPr lang="en-US" altLang="zh-CN" dirty="0" err="1">
                <a:latin typeface="DejaVu Sans Mono" charset="0"/>
                <a:ea typeface="DejaVu Sans Mono" charset="0"/>
                <a:cs typeface="DejaVu Sans Mono" charset="0"/>
              </a:rPr>
              <a:t>GLfloat</a:t>
            </a:r>
            <a:r>
              <a:rPr lang="en-US" altLang="zh-CN" dirty="0">
                <a:latin typeface="DejaVu Sans Mono" charset="0"/>
                <a:ea typeface="DejaVu Sans Mono" charset="0"/>
                <a:cs typeface="DejaVu Sans Mono" charset="0"/>
              </a:rPr>
              <a:t> value</a:t>
            </a:r>
            <a:r>
              <a:rPr lang="en-US" altLang="zh-CN" dirty="0" smtClean="0">
                <a:latin typeface="DejaVu Sans Mono" charset="0"/>
                <a:ea typeface="DejaVu Sans Mono" charset="0"/>
                <a:cs typeface="DejaVu Sans Mono" charset="0"/>
              </a:rPr>
              <a:t>)</a:t>
            </a:r>
          </a:p>
          <a:p>
            <a:pPr lvl="1"/>
            <a:r>
              <a:rPr lang="en-US" altLang="zh-CN" dirty="0" smtClean="0">
                <a:latin typeface="DejaVu Sans Mono" charset="0"/>
                <a:ea typeface="DejaVu Sans Mono" charset="0"/>
                <a:cs typeface="DejaVu Sans Mono" charset="0"/>
              </a:rPr>
              <a:t>GL_ACCUM</a:t>
            </a:r>
            <a:r>
              <a:rPr lang="en-US" altLang="zh-CN" dirty="0"/>
              <a:t> </a:t>
            </a:r>
            <a:r>
              <a:rPr lang="zh-CN" altLang="en-US" dirty="0" smtClean="0"/>
              <a:t>把颜色缓冲区的颜色值进行缩放后，累加到累积缓冲区</a:t>
            </a:r>
          </a:p>
          <a:p>
            <a:pPr lvl="1"/>
            <a:r>
              <a:rPr lang="en-US" altLang="zh-CN" dirty="0" smtClean="0">
                <a:latin typeface="DejaVu Sans Mono" charset="0"/>
                <a:ea typeface="DejaVu Sans Mono" charset="0"/>
                <a:cs typeface="DejaVu Sans Mono" charset="0"/>
              </a:rPr>
              <a:t>GL_LOAD</a:t>
            </a:r>
            <a:r>
              <a:rPr lang="en-US" altLang="zh-CN" dirty="0" smtClean="0"/>
              <a:t> </a:t>
            </a:r>
            <a:r>
              <a:rPr lang="zh-CN" altLang="en-US" dirty="0" smtClean="0"/>
              <a:t>把</a:t>
            </a:r>
            <a:r>
              <a:rPr lang="zh-CN" altLang="en-US" dirty="0"/>
              <a:t>颜色缓冲区的颜色值进行缩放后，替换掉累积缓冲区的颜色值</a:t>
            </a:r>
          </a:p>
          <a:p>
            <a:pPr lvl="1"/>
            <a:r>
              <a:rPr lang="en-US" altLang="zh-CN" dirty="0" smtClean="0">
                <a:latin typeface="DejaVu Sans Mono" charset="0"/>
                <a:ea typeface="DejaVu Sans Mono" charset="0"/>
                <a:cs typeface="DejaVu Sans Mono" charset="0"/>
              </a:rPr>
              <a:t>GL_RETURN</a:t>
            </a:r>
            <a:r>
              <a:rPr lang="en-US" altLang="zh-CN" dirty="0" smtClean="0"/>
              <a:t> </a:t>
            </a:r>
            <a:r>
              <a:rPr lang="zh-CN" altLang="en-US" dirty="0" smtClean="0"/>
              <a:t>把</a:t>
            </a:r>
            <a:r>
              <a:rPr lang="zh-CN" altLang="en-US" dirty="0"/>
              <a:t>累积缓冲区的颜色值缩放后，拷贝回颜色缓冲区</a:t>
            </a:r>
          </a:p>
          <a:p>
            <a:pPr lvl="1"/>
            <a:r>
              <a:rPr lang="en-US" altLang="zh-CN" dirty="0" smtClean="0">
                <a:latin typeface="DejaVu Sans Mono" charset="0"/>
                <a:ea typeface="DejaVu Sans Mono" charset="0"/>
                <a:cs typeface="DejaVu Sans Mono" charset="0"/>
              </a:rPr>
              <a:t>GL_MULT</a:t>
            </a:r>
            <a:r>
              <a:rPr lang="en-US" altLang="zh-CN" dirty="0" smtClean="0"/>
              <a:t> </a:t>
            </a:r>
            <a:r>
              <a:rPr lang="zh-CN" altLang="en-US" dirty="0" smtClean="0"/>
              <a:t>把</a:t>
            </a:r>
            <a:r>
              <a:rPr lang="zh-CN" altLang="en-US" dirty="0"/>
              <a:t>累积缓冲区的颜色值缩放后，替换掉原累积缓冲区的颜色值</a:t>
            </a:r>
          </a:p>
          <a:p>
            <a:pPr lvl="1"/>
            <a:r>
              <a:rPr lang="en-US" altLang="zh-CN" dirty="0" smtClean="0">
                <a:latin typeface="DejaVu Sans Mono" charset="0"/>
                <a:ea typeface="DejaVu Sans Mono" charset="0"/>
                <a:cs typeface="DejaVu Sans Mono" charset="0"/>
              </a:rPr>
              <a:t>GL_ADD</a:t>
            </a:r>
            <a:r>
              <a:rPr lang="en-US" altLang="zh-CN" dirty="0" smtClean="0"/>
              <a:t> </a:t>
            </a:r>
            <a:r>
              <a:rPr lang="zh-CN" altLang="en-US" dirty="0" smtClean="0"/>
              <a:t>把</a:t>
            </a:r>
            <a:r>
              <a:rPr lang="zh-CN" altLang="en-US" dirty="0"/>
              <a:t>累积缓冲区的颜色值缩放后，累加到累积缓冲区</a:t>
            </a:r>
          </a:p>
        </p:txBody>
      </p:sp>
    </p:spTree>
    <p:extLst>
      <p:ext uri="{BB962C8B-B14F-4D97-AF65-F5344CB8AC3E}">
        <p14:creationId xmlns="" xmlns:p14="http://schemas.microsoft.com/office/powerpoint/2010/main" val="228315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累积缓冲区实现运动模糊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4447" y="1814386"/>
            <a:ext cx="7494665" cy="41954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dirty="0" err="1">
                <a:latin typeface="DejaVu Sans Mono" charset="0"/>
                <a:ea typeface="DejaVu Sans Mono" charset="0"/>
                <a:cs typeface="DejaVu Sans Mono" charset="0"/>
              </a:rPr>
              <a:t>glAccum</a:t>
            </a: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(GL_MULT, 0.8</a:t>
            </a: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);</a:t>
            </a:r>
            <a:endParaRPr lang="en-US" altLang="zh-CN" sz="1600" dirty="0">
              <a:latin typeface="DejaVu Sans Mono" charset="0"/>
              <a:ea typeface="DejaVu Sans Mono" charset="0"/>
              <a:cs typeface="DejaVu Sans Mono" charset="0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for </a:t>
            </a: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(</a:t>
            </a:r>
            <a:r>
              <a:rPr lang="en-US" altLang="zh-CN" sz="1600" dirty="0" err="1">
                <a:latin typeface="DejaVu Sans Mono" charset="0"/>
                <a:ea typeface="DejaVu Sans Mono" charset="0"/>
                <a:cs typeface="DejaVu Sans Mono" charset="0"/>
              </a:rPr>
              <a:t>int</a:t>
            </a: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 y = -20; y &lt;= 20; y += 4)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{</a:t>
            </a:r>
            <a:endParaRPr lang="en-US" altLang="zh-CN" sz="1600" dirty="0">
              <a:latin typeface="DejaVu Sans Mono" charset="0"/>
              <a:ea typeface="DejaVu Sans Mono" charset="0"/>
              <a:cs typeface="DejaVu Sans Mono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	for (</a:t>
            </a:r>
            <a:r>
              <a:rPr lang="en-US" altLang="zh-CN" sz="1600" dirty="0" err="1">
                <a:latin typeface="DejaVu Sans Mono" charset="0"/>
                <a:ea typeface="DejaVu Sans Mono" charset="0"/>
                <a:cs typeface="DejaVu Sans Mono" charset="0"/>
              </a:rPr>
              <a:t>int</a:t>
            </a: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 x = -20; x &lt;= 20; x += 4)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	{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		</a:t>
            </a:r>
            <a:r>
              <a:rPr lang="en-US" altLang="zh-CN" sz="1600" dirty="0" err="1" smtClean="0">
                <a:latin typeface="DejaVu Sans Mono" charset="0"/>
                <a:ea typeface="DejaVu Sans Mono" charset="0"/>
                <a:cs typeface="DejaVu Sans Mono" charset="0"/>
              </a:rPr>
              <a:t>glLoadIdentity</a:t>
            </a: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		</a:t>
            </a:r>
            <a:r>
              <a:rPr lang="en-US" altLang="zh-CN" sz="1600" dirty="0" err="1" smtClean="0">
                <a:latin typeface="DejaVu Sans Mono" charset="0"/>
                <a:ea typeface="DejaVu Sans Mono" charset="0"/>
                <a:cs typeface="DejaVu Sans Mono" charset="0"/>
              </a:rPr>
              <a:t>gluLookAt</a:t>
            </a: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(</a:t>
            </a:r>
            <a:r>
              <a:rPr lang="en-US" altLang="zh-CN" sz="1600" dirty="0" err="1" smtClean="0">
                <a:latin typeface="DejaVu Sans Mono" charset="0"/>
                <a:ea typeface="DejaVu Sans Mono" charset="0"/>
                <a:cs typeface="DejaVu Sans Mono" charset="0"/>
              </a:rPr>
              <a:t>cameraX</a:t>
            </a: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, </a:t>
            </a:r>
            <a:r>
              <a:rPr lang="en-US" altLang="zh-CN" sz="1600" dirty="0" err="1">
                <a:latin typeface="DejaVu Sans Mono" charset="0"/>
                <a:ea typeface="DejaVu Sans Mono" charset="0"/>
                <a:cs typeface="DejaVu Sans Mono" charset="0"/>
              </a:rPr>
              <a:t>cameraY</a:t>
            </a: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, 20, 0, 0, 0, 0, 0, 1);</a:t>
            </a:r>
          </a:p>
          <a:p>
            <a:pPr marL="0" indent="0">
              <a:buNone/>
            </a:pP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		</a:t>
            </a:r>
            <a:r>
              <a:rPr lang="en-US" altLang="zh-CN" sz="1600" dirty="0" err="1">
                <a:latin typeface="DejaVu Sans Mono" charset="0"/>
                <a:ea typeface="DejaVu Sans Mono" charset="0"/>
                <a:cs typeface="DejaVu Sans Mono" charset="0"/>
              </a:rPr>
              <a:t>glTranslatef</a:t>
            </a: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(float(x), float(y), 0.0f</a:t>
            </a: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);</a:t>
            </a:r>
            <a:endParaRPr lang="en-US" altLang="zh-CN" sz="1600" dirty="0">
              <a:latin typeface="DejaVu Sans Mono" charset="0"/>
              <a:ea typeface="DejaVu Sans Mono" charset="0"/>
              <a:cs typeface="DejaVu Sans Mono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		</a:t>
            </a:r>
            <a:r>
              <a:rPr lang="en-US" altLang="zh-CN" sz="1600" dirty="0" err="1" smtClean="0">
                <a:latin typeface="DejaVu Sans Mono" charset="0"/>
                <a:ea typeface="DejaVu Sans Mono" charset="0"/>
                <a:cs typeface="DejaVu Sans Mono" charset="0"/>
              </a:rPr>
              <a:t>drawCube</a:t>
            </a: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();</a:t>
            </a:r>
            <a:endParaRPr lang="en-US" altLang="zh-CN" sz="1600" dirty="0">
              <a:latin typeface="DejaVu Sans Mono" charset="0"/>
              <a:ea typeface="DejaVu Sans Mono" charset="0"/>
              <a:cs typeface="DejaVu Sans Mono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	</a:t>
            </a: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}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}</a:t>
            </a:r>
            <a:endParaRPr lang="en-US" altLang="zh-CN" sz="1600" dirty="0">
              <a:latin typeface="DejaVu Sans Mono" charset="0"/>
              <a:ea typeface="DejaVu Sans Mono" charset="0"/>
              <a:cs typeface="DejaVu Sans Mono" charset="0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DejaVu Sans Mono" charset="0"/>
                <a:ea typeface="DejaVu Sans Mono" charset="0"/>
                <a:cs typeface="DejaVu Sans Mono" charset="0"/>
              </a:rPr>
              <a:t>glAccum</a:t>
            </a: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(GL_ACCUM</a:t>
            </a: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, 0.2</a:t>
            </a: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);</a:t>
            </a:r>
            <a:endParaRPr lang="en-US" altLang="zh-CN" sz="1600" dirty="0">
              <a:latin typeface="DejaVu Sans Mono" charset="0"/>
              <a:ea typeface="DejaVu Sans Mono" charset="0"/>
              <a:cs typeface="DejaVu Sans Mono" charset="0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DejaVu Sans Mono" charset="0"/>
                <a:ea typeface="DejaVu Sans Mono" charset="0"/>
                <a:cs typeface="DejaVu Sans Mono" charset="0"/>
              </a:rPr>
              <a:t>glAccum</a:t>
            </a:r>
            <a:r>
              <a:rPr lang="en-US" altLang="zh-CN" sz="1600" dirty="0" smtClean="0">
                <a:latin typeface="DejaVu Sans Mono" charset="0"/>
                <a:ea typeface="DejaVu Sans Mono" charset="0"/>
                <a:cs typeface="DejaVu Sans Mono" charset="0"/>
              </a:rPr>
              <a:t>(GL_RETURN</a:t>
            </a:r>
            <a:r>
              <a:rPr lang="en-US" altLang="zh-CN" sz="1600" dirty="0">
                <a:latin typeface="DejaVu Sans Mono" charset="0"/>
                <a:ea typeface="DejaVu Sans Mono" charset="0"/>
                <a:cs typeface="DejaVu Sans Mono" charset="0"/>
              </a:rPr>
              <a:t>, 1.0);</a:t>
            </a:r>
          </a:p>
          <a:p>
            <a:pPr marL="0" indent="0">
              <a:buNone/>
            </a:pPr>
            <a:endParaRPr lang="zh-CN" altLang="en-US" sz="1600" dirty="0">
              <a:latin typeface="DejaVu Sans Mono" charset="0"/>
              <a:cs typeface="DejaVu Sans Mono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968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62088" y="4829578"/>
            <a:ext cx="5443538" cy="1403798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绘制到纹理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88" y="2301081"/>
            <a:ext cx="2028825" cy="3714750"/>
          </a:xfrm>
        </p:spPr>
      </p:pic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298700"/>
            <a:ext cx="2028825" cy="3714750"/>
          </a:xfrm>
        </p:spPr>
      </p:pic>
    </p:spTree>
    <p:extLst>
      <p:ext uri="{BB962C8B-B14F-4D97-AF65-F5344CB8AC3E}">
        <p14:creationId xmlns="" xmlns:p14="http://schemas.microsoft.com/office/powerpoint/2010/main" val="384948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用纹理模拟累积缓冲区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58" y="2052638"/>
            <a:ext cx="3507010" cy="4195762"/>
          </a:xfrm>
        </p:spPr>
      </p:pic>
    </p:spTree>
    <p:extLst>
      <p:ext uri="{BB962C8B-B14F-4D97-AF65-F5344CB8AC3E}">
        <p14:creationId xmlns="" xmlns:p14="http://schemas.microsoft.com/office/powerpoint/2010/main" val="224385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用纹理模拟累积缓冲区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第一遍绘制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绑定 </a:t>
            </a:r>
            <a:r>
              <a:rPr lang="en-US" altLang="zh-CN" dirty="0" smtClean="0"/>
              <a:t>Framebuffer Object</a:t>
            </a:r>
          </a:p>
          <a:p>
            <a:pPr lvl="1"/>
            <a:r>
              <a:rPr lang="zh-CN" altLang="en-US" dirty="0" smtClean="0"/>
              <a:t>选择用作输出的颜色纹理和深度纹理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绘制场景</a:t>
            </a:r>
            <a:endParaRPr lang="en-US" altLang="zh-CN" dirty="0" smtClean="0"/>
          </a:p>
          <a:p>
            <a:r>
              <a:rPr lang="zh-CN" altLang="en-US" dirty="0" smtClean="0"/>
              <a:t>第二遍绘制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绑定颜色纹理和累积纹理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绘制覆盖整个屏幕的矩形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在片段着色器中混合颜色纹理和累积纹理</a:t>
            </a:r>
            <a:endParaRPr lang="en-US" altLang="zh-CN" dirty="0" smtClean="0"/>
          </a:p>
          <a:p>
            <a:r>
              <a:rPr lang="zh-CN" altLang="en-US" dirty="0"/>
              <a:t>输出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将累积纹理的内容拷贝到屏幕上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69708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纹理反馈循环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OpenGL </a:t>
            </a:r>
            <a:r>
              <a:rPr lang="zh-CN" altLang="en-US" dirty="0" smtClean="0"/>
              <a:t>不允许在读取纹理的同时修改其内容</a:t>
            </a:r>
            <a:endParaRPr lang="en-US" altLang="zh-CN" dirty="0" smtClean="0"/>
          </a:p>
          <a:p>
            <a:r>
              <a:rPr lang="zh-CN" altLang="en-US" dirty="0" smtClean="0"/>
              <a:t>解决方法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交替使用两张纹理，一读一写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或者使用 </a:t>
            </a:r>
            <a:r>
              <a:rPr lang="en-US" altLang="zh-CN" dirty="0" smtClean="0"/>
              <a:t>OpenGL 4.5 </a:t>
            </a:r>
            <a:r>
              <a:rPr lang="zh-CN" altLang="en-US" dirty="0" smtClean="0"/>
              <a:t>添加的 </a:t>
            </a:r>
            <a:r>
              <a:rPr lang="en-US" altLang="zh-CN" dirty="0" err="1" smtClean="0"/>
              <a:t>GL_ARB_texture_barrier</a:t>
            </a:r>
            <a:r>
              <a:rPr lang="en-US" altLang="zh-CN" dirty="0" smtClean="0"/>
              <a:t> </a:t>
            </a:r>
            <a:r>
              <a:rPr lang="zh-CN" altLang="en-US" dirty="0" smtClean="0"/>
              <a:t>扩展</a:t>
            </a:r>
            <a:endParaRPr lang="en-US" altLang="zh-CN" dirty="0" smtClean="0"/>
          </a:p>
        </p:txBody>
      </p:sp>
    </p:spTree>
    <p:extLst>
      <p:ext uri="{BB962C8B-B14F-4D97-AF65-F5344CB8AC3E}">
        <p14:creationId xmlns="" xmlns:p14="http://schemas.microsoft.com/office/powerpoint/2010/main" val="241594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着色</a:t>
            </a:r>
            <a:r>
              <a:rPr lang="zh-CN" altLang="en-US" dirty="0" smtClean="0"/>
              <a:t>器代码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顶点着色</a:t>
            </a:r>
            <a:r>
              <a:rPr lang="zh-CN" altLang="en-US" dirty="0" smtClean="0"/>
              <a:t>器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gl_Position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=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gl_Vertex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texcoord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=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gl_Vertex.xy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* 0.5 + 0.5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</a:p>
          <a:p>
            <a:r>
              <a:rPr lang="zh-CN" altLang="en-US" dirty="0"/>
              <a:t>片段着色</a:t>
            </a:r>
            <a:r>
              <a:rPr lang="zh-CN" altLang="en-US" dirty="0" smtClean="0"/>
              <a:t>器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gl_FragColor.rgb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=</a:t>
            </a:r>
          </a:p>
          <a:p>
            <a:pPr marL="457200" lvl="1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texture2D(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accumTex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texcoord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).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rgb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* (1.0 - MIX_RATIO)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+</a:t>
            </a:r>
          </a:p>
          <a:p>
            <a:pPr marL="457200" lvl="1" indent="0">
              <a:buNone/>
            </a:pP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texture2D(</a:t>
            </a: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colorTex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 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texcoord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).</a:t>
            </a:r>
            <a:r>
              <a:rPr lang="en-US" altLang="zh-CN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rgb</a:t>
            </a:r>
            <a:r>
              <a:rPr lang="en-US" altLang="zh-CN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* 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MIX_RATIO;</a:t>
            </a:r>
          </a:p>
          <a:p>
            <a:pPr marL="457200" lvl="1" indent="0">
              <a:buNone/>
            </a:pPr>
            <a:r>
              <a:rPr lang="en-US" altLang="zh-CN" sz="1600" dirty="0" err="1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gl_FragColor.a</a:t>
            </a:r>
            <a:r>
              <a:rPr lang="en-US" altLang="zh-CN" sz="1600" dirty="0" smtClean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= 1.0;</a:t>
            </a:r>
            <a:endParaRPr lang="zh-CN" altLang="en-US" sz="1600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1229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离子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435</TotalTime>
  <Words>1057</Words>
  <Application>Microsoft Office PowerPoint</Application>
  <PresentationFormat>全屏显示(4:3)</PresentationFormat>
  <Paragraphs>166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Arial</vt:lpstr>
      <vt:lpstr>宋体</vt:lpstr>
      <vt:lpstr>Century Gothic</vt:lpstr>
      <vt:lpstr>Wingdings 3</vt:lpstr>
      <vt:lpstr>DejaVu Sans Mono</vt:lpstr>
      <vt:lpstr>离子</vt:lpstr>
      <vt:lpstr>OpenGL 编程实例示范</vt:lpstr>
      <vt:lpstr>概要</vt:lpstr>
      <vt:lpstr>简单物体绘制</vt:lpstr>
      <vt:lpstr>模型表示（1）</vt:lpstr>
      <vt:lpstr>模型表示（2）</vt:lpstr>
      <vt:lpstr>模型表示（3）</vt:lpstr>
      <vt:lpstr>绘制模型</vt:lpstr>
      <vt:lpstr>顶点变换（固定管线）</vt:lpstr>
      <vt:lpstr>顶点变换（可编程管线）</vt:lpstr>
      <vt:lpstr>顶点变换（可编程管线）</vt:lpstr>
      <vt:lpstr>多重纹理贴图</vt:lpstr>
      <vt:lpstr>纹理混合</vt:lpstr>
      <vt:lpstr>多重纹理（固定管线）</vt:lpstr>
      <vt:lpstr>多重纹理（固定管线）</vt:lpstr>
      <vt:lpstr>多重纹理（固定管线）</vt:lpstr>
      <vt:lpstr>多重纹理（可编程管线）</vt:lpstr>
      <vt:lpstr>运动模糊</vt:lpstr>
      <vt:lpstr>基本实现原理</vt:lpstr>
      <vt:lpstr>累积缓冲区</vt:lpstr>
      <vt:lpstr>累积缓冲区实现运动模糊</vt:lpstr>
      <vt:lpstr>绘制到纹理</vt:lpstr>
      <vt:lpstr>用纹理模拟累积缓冲区</vt:lpstr>
      <vt:lpstr>用纹理模拟累积缓冲区</vt:lpstr>
      <vt:lpstr>纹理反馈循环</vt:lpstr>
      <vt:lpstr>着色器代码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OpenGL 编程实例</dc:title>
  <cp:lastModifiedBy>Li Sheng</cp:lastModifiedBy>
  <cp:revision>15</cp:revision>
  <dcterms:created xsi:type="dcterms:W3CDTF">2015-03-22T05:55:06Z</dcterms:created>
  <dcterms:modified xsi:type="dcterms:W3CDTF">2015-03-26T14:04:05Z</dcterms:modified>
</cp:coreProperties>
</file>