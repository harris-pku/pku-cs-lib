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330" r:id="rId3"/>
    <p:sldId id="282" r:id="rId4"/>
    <p:sldId id="257" r:id="rId5"/>
    <p:sldId id="258" r:id="rId6"/>
    <p:sldId id="264" r:id="rId7"/>
    <p:sldId id="288" r:id="rId8"/>
    <p:sldId id="307" r:id="rId9"/>
    <p:sldId id="329" r:id="rId10"/>
    <p:sldId id="284" r:id="rId11"/>
    <p:sldId id="286" r:id="rId12"/>
    <p:sldId id="301" r:id="rId13"/>
    <p:sldId id="287" r:id="rId14"/>
    <p:sldId id="265" r:id="rId15"/>
    <p:sldId id="303" r:id="rId16"/>
    <p:sldId id="304" r:id="rId17"/>
    <p:sldId id="305" r:id="rId18"/>
    <p:sldId id="306" r:id="rId19"/>
    <p:sldId id="308" r:id="rId20"/>
    <p:sldId id="311" r:id="rId21"/>
    <p:sldId id="309" r:id="rId22"/>
    <p:sldId id="310" r:id="rId23"/>
    <p:sldId id="313" r:id="rId24"/>
    <p:sldId id="314" r:id="rId25"/>
    <p:sldId id="302" r:id="rId26"/>
    <p:sldId id="316" r:id="rId27"/>
    <p:sldId id="318" r:id="rId28"/>
    <p:sldId id="267" r:id="rId29"/>
    <p:sldId id="322" r:id="rId30"/>
    <p:sldId id="320" r:id="rId31"/>
    <p:sldId id="325" r:id="rId32"/>
    <p:sldId id="295" r:id="rId33"/>
    <p:sldId id="319" r:id="rId34"/>
    <p:sldId id="326" r:id="rId35"/>
    <p:sldId id="327" r:id="rId36"/>
    <p:sldId id="275" r:id="rId37"/>
    <p:sldId id="328" r:id="rId38"/>
    <p:sldId id="332" r:id="rId39"/>
    <p:sldId id="331" r:id="rId40"/>
    <p:sldId id="333" r:id="rId41"/>
    <p:sldId id="335" r:id="rId42"/>
    <p:sldId id="279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AC02D-A430-4C8E-AF08-9DAB9EAF698D}" type="datetimeFigureOut">
              <a:rPr lang="zh-CN" altLang="en-US" smtClean="0"/>
              <a:t>2018/3/19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0270B-81C8-4022-9278-34A23AEB20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300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[1]</a:t>
            </a:r>
            <a:r>
              <a:rPr lang="en-US" altLang="zh-CN" baseline="0" dirty="0" smtClean="0"/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Wikipedia contributors. "OpenGL." 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Wikipedia, The Free Encyclopedia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Wikipedia, The Free Encyclopedia, 13 Mar. 2018. Web. 18 Mar. 2018.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0270B-81C8-4022-9278-34A23AEB207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308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[2]</a:t>
            </a:r>
            <a:r>
              <a:rPr lang="en-US" altLang="zh-CN" baseline="0" dirty="0" smtClean="0"/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Wikipedia contributors. "Motherboard." 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Wikipedia, The Free Encyclopedia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Wikipedia, The Free Encyclopedia, 13 Mar. 2018. Web. 18 Mar. 2018.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0270B-81C8-4022-9278-34A23AEB207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80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[3] "Rendering Pipeline Overview." OpenGL Wiki, . 21 Feb 2017, 22:15 UTC. 18 Mar 2018, 07:43 &lt;http://www.khronos.org/opengl/wiki_opengl/index.php?title=Rendering_Pipeline_Overview&amp;oldid=13843&gt;.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0270B-81C8-4022-9278-34A23AEB207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711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0270B-81C8-4022-9278-34A23AEB207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620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0270B-81C8-4022-9278-34A23AEB207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193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B601E-D170-473A-B331-98361D75BAC6}" type="datetimeFigureOut">
              <a:rPr lang="zh-CN" altLang="en-US" smtClean="0"/>
              <a:t>2018/3/19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E1CC-45F4-4FE6-B939-D6B7E3DE0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601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B601E-D170-473A-B331-98361D75BAC6}" type="datetimeFigureOut">
              <a:rPr lang="zh-CN" altLang="en-US" smtClean="0"/>
              <a:t>2018/3/19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E1CC-45F4-4FE6-B939-D6B7E3DE0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593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B601E-D170-473A-B331-98361D75BAC6}" type="datetimeFigureOut">
              <a:rPr lang="zh-CN" altLang="en-US" smtClean="0"/>
              <a:t>2018/3/19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E1CC-45F4-4FE6-B939-D6B7E3DE0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47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B601E-D170-473A-B331-98361D75BAC6}" type="datetimeFigureOut">
              <a:rPr lang="zh-CN" altLang="en-US" smtClean="0"/>
              <a:t>2018/3/19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E1CC-45F4-4FE6-B939-D6B7E3DE0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972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B601E-D170-473A-B331-98361D75BAC6}" type="datetimeFigureOut">
              <a:rPr lang="zh-CN" altLang="en-US" smtClean="0"/>
              <a:t>2018/3/19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E1CC-45F4-4FE6-B939-D6B7E3DE0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445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B601E-D170-473A-B331-98361D75BAC6}" type="datetimeFigureOut">
              <a:rPr lang="zh-CN" altLang="en-US" smtClean="0"/>
              <a:t>2018/3/19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E1CC-45F4-4FE6-B939-D6B7E3DE0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587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B601E-D170-473A-B331-98361D75BAC6}" type="datetimeFigureOut">
              <a:rPr lang="zh-CN" altLang="en-US" smtClean="0"/>
              <a:t>2018/3/19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E1CC-45F4-4FE6-B939-D6B7E3DE0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555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B601E-D170-473A-B331-98361D75BAC6}" type="datetimeFigureOut">
              <a:rPr lang="zh-CN" altLang="en-US" smtClean="0"/>
              <a:t>2018/3/19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E1CC-45F4-4FE6-B939-D6B7E3DE0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480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B601E-D170-473A-B331-98361D75BAC6}" type="datetimeFigureOut">
              <a:rPr lang="zh-CN" altLang="en-US" smtClean="0"/>
              <a:t>2018/3/19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E1CC-45F4-4FE6-B939-D6B7E3DE0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111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B601E-D170-473A-B331-98361D75BAC6}" type="datetimeFigureOut">
              <a:rPr lang="zh-CN" altLang="en-US" smtClean="0"/>
              <a:t>2018/3/19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E1CC-45F4-4FE6-B939-D6B7E3DE0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829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B601E-D170-473A-B331-98361D75BAC6}" type="datetimeFigureOut">
              <a:rPr lang="zh-CN" altLang="en-US" smtClean="0"/>
              <a:t>2018/3/19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E1CC-45F4-4FE6-B939-D6B7E3DE0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776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B601E-D170-473A-B331-98361D75BAC6}" type="datetimeFigureOut">
              <a:rPr lang="zh-CN" altLang="en-US" smtClean="0"/>
              <a:t>2018/3/19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6E1CC-45F4-4FE6-B939-D6B7E3DE0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76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OpenGL</a:t>
            </a:r>
            <a:r>
              <a:rPr lang="zh-CN" altLang="en-US" dirty="0" smtClean="0"/>
              <a:t>编程基础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易康睿</a:t>
            </a:r>
            <a:r>
              <a:rPr lang="en-US" altLang="zh-CN" dirty="0" smtClean="0"/>
              <a:t>yikangrui@pku.edu.cn</a:t>
            </a:r>
          </a:p>
          <a:p>
            <a:r>
              <a:rPr lang="zh-CN" altLang="en-US" dirty="0"/>
              <a:t>张桐</a:t>
            </a:r>
            <a:r>
              <a:rPr lang="zh-CN" altLang="en-US" dirty="0" smtClean="0"/>
              <a:t>源</a:t>
            </a:r>
            <a:r>
              <a:rPr lang="en-US" altLang="zh-CN" dirty="0" smtClean="0"/>
              <a:t>tongyuan@pku.edu.cn</a:t>
            </a:r>
          </a:p>
          <a:p>
            <a:r>
              <a:rPr lang="zh-CN" altLang="en-US" dirty="0" smtClean="0"/>
              <a:t>北京大学图形与交互技术实验室 </a:t>
            </a:r>
            <a:r>
              <a:rPr lang="en-US" altLang="zh-CN" dirty="0" smtClean="0"/>
              <a:t>@</a:t>
            </a:r>
            <a:r>
              <a:rPr lang="zh-CN" altLang="en-US" dirty="0" smtClean="0"/>
              <a:t>理科一号楼</a:t>
            </a:r>
            <a:r>
              <a:rPr lang="en-US" altLang="zh-CN" dirty="0" smtClean="0"/>
              <a:t>1322N</a:t>
            </a:r>
          </a:p>
        </p:txBody>
      </p:sp>
    </p:spTree>
    <p:extLst>
      <p:ext uri="{BB962C8B-B14F-4D97-AF65-F5344CB8AC3E}">
        <p14:creationId xmlns:p14="http://schemas.microsoft.com/office/powerpoint/2010/main" val="2942794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场景演示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北京大学三维重建场景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864" y="365125"/>
            <a:ext cx="5813821" cy="603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434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课堂目标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掌握</a:t>
            </a:r>
            <a:r>
              <a:rPr lang="en-US" altLang="zh-CN" dirty="0" smtClean="0"/>
              <a:t>OpenGL</a:t>
            </a:r>
            <a:r>
              <a:rPr lang="zh-CN" altLang="en-US" dirty="0" smtClean="0"/>
              <a:t>开发环境的配置</a:t>
            </a:r>
            <a:endParaRPr lang="en-US" altLang="zh-CN" dirty="0" smtClean="0"/>
          </a:p>
          <a:p>
            <a:r>
              <a:rPr lang="zh-CN" altLang="en-US" dirty="0"/>
              <a:t>了解</a:t>
            </a:r>
            <a:r>
              <a:rPr lang="zh-CN" altLang="en-US" dirty="0" smtClean="0"/>
              <a:t>图形绘制系统体系结构</a:t>
            </a:r>
            <a:endParaRPr lang="en-US" altLang="zh-CN" dirty="0" smtClean="0"/>
          </a:p>
          <a:p>
            <a:r>
              <a:rPr lang="zh-CN" altLang="en-US" dirty="0" smtClean="0"/>
              <a:t>实现简单场景的实时绘制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6219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本节课的软硬件环境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硬件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Intel Core i7 + NVIDIA 1000</a:t>
            </a:r>
            <a:r>
              <a:rPr lang="zh-CN" altLang="en-US" dirty="0" smtClean="0"/>
              <a:t>系列</a:t>
            </a:r>
            <a:endParaRPr lang="en-US" altLang="zh-CN" dirty="0" smtClean="0"/>
          </a:p>
          <a:p>
            <a:pPr lvl="1"/>
            <a:r>
              <a:rPr lang="zh-CN" altLang="en-US" dirty="0"/>
              <a:t>目前</a:t>
            </a:r>
            <a:r>
              <a:rPr lang="zh-CN" altLang="en-US" dirty="0" smtClean="0"/>
              <a:t>绝大多数</a:t>
            </a:r>
            <a:r>
              <a:rPr lang="en-US" altLang="zh-CN" dirty="0" smtClean="0"/>
              <a:t>GPU</a:t>
            </a:r>
            <a:r>
              <a:rPr lang="zh-CN" altLang="en-US" dirty="0" smtClean="0"/>
              <a:t>支持</a:t>
            </a:r>
            <a:r>
              <a:rPr lang="en-US" altLang="zh-CN" dirty="0" smtClean="0"/>
              <a:t>OpenGL3.3</a:t>
            </a:r>
            <a:r>
              <a:rPr lang="zh-CN" altLang="en-US" dirty="0" smtClean="0"/>
              <a:t>及以上</a:t>
            </a:r>
            <a:endParaRPr lang="en-US" altLang="zh-CN" dirty="0" smtClean="0"/>
          </a:p>
          <a:p>
            <a:r>
              <a:rPr lang="zh-CN" altLang="en-US" dirty="0" smtClean="0"/>
              <a:t>系统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Windows 10</a:t>
            </a:r>
          </a:p>
          <a:p>
            <a:r>
              <a:rPr lang="zh-CN" altLang="en-US" dirty="0" smtClean="0"/>
              <a:t>软件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Visual Studio 2015/2017</a:t>
            </a:r>
          </a:p>
          <a:p>
            <a:r>
              <a:rPr lang="zh-CN" altLang="en-US" dirty="0" smtClean="0"/>
              <a:t>语言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C++</a:t>
            </a:r>
          </a:p>
        </p:txBody>
      </p:sp>
    </p:spTree>
    <p:extLst>
      <p:ext uri="{BB962C8B-B14F-4D97-AF65-F5344CB8AC3E}">
        <p14:creationId xmlns:p14="http://schemas.microsoft.com/office/powerpoint/2010/main" val="1636861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本节课的软硬件环境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图形库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GLEW</a:t>
            </a:r>
          </a:p>
          <a:p>
            <a:pPr lvl="2"/>
            <a:r>
              <a:rPr lang="en-US" altLang="zh-CN" dirty="0" smtClean="0"/>
              <a:t>OpenGL </a:t>
            </a:r>
            <a:r>
              <a:rPr lang="en-US" altLang="zh-CN" dirty="0"/>
              <a:t>Extension Wrangler </a:t>
            </a:r>
            <a:r>
              <a:rPr lang="en-US" altLang="zh-CN" dirty="0" smtClean="0"/>
              <a:t>Library</a:t>
            </a:r>
          </a:p>
          <a:p>
            <a:pPr lvl="2"/>
            <a:r>
              <a:rPr lang="en-US" altLang="zh-CN" dirty="0" smtClean="0"/>
              <a:t>Windows</a:t>
            </a:r>
            <a:r>
              <a:rPr lang="zh-CN" altLang="en-US" dirty="0"/>
              <a:t>自带</a:t>
            </a:r>
            <a:r>
              <a:rPr lang="zh-CN" altLang="en-US" dirty="0" smtClean="0"/>
              <a:t>的</a:t>
            </a:r>
            <a:r>
              <a:rPr lang="en-US" altLang="zh-CN" dirty="0" smtClean="0"/>
              <a:t>OpenGL</a:t>
            </a:r>
            <a:r>
              <a:rPr lang="zh-CN" altLang="en-US" dirty="0" smtClean="0"/>
              <a:t>库版本较低，由</a:t>
            </a:r>
            <a:r>
              <a:rPr lang="en-US" altLang="zh-CN" dirty="0" smtClean="0"/>
              <a:t>GLEW</a:t>
            </a:r>
            <a:r>
              <a:rPr lang="zh-CN" altLang="en-US" dirty="0"/>
              <a:t>可</a:t>
            </a:r>
            <a:r>
              <a:rPr lang="zh-CN" altLang="en-US" dirty="0" smtClean="0"/>
              <a:t>获取完整</a:t>
            </a:r>
            <a:r>
              <a:rPr lang="en-US" altLang="zh-CN" dirty="0" smtClean="0"/>
              <a:t>API</a:t>
            </a:r>
            <a:r>
              <a:rPr lang="zh-CN" altLang="en-US" dirty="0" smtClean="0"/>
              <a:t>支持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GLFW</a:t>
            </a:r>
          </a:p>
          <a:p>
            <a:pPr lvl="2"/>
            <a:r>
              <a:rPr lang="zh-CN" altLang="en-US" dirty="0"/>
              <a:t>提供了</a:t>
            </a:r>
            <a:r>
              <a:rPr lang="en-US" altLang="zh-CN" dirty="0" smtClean="0"/>
              <a:t>OpenGL</a:t>
            </a:r>
            <a:r>
              <a:rPr lang="zh-CN" altLang="en-US" dirty="0" smtClean="0"/>
              <a:t>核心</a:t>
            </a:r>
            <a:r>
              <a:rPr lang="en-US" altLang="zh-CN" dirty="0" smtClean="0"/>
              <a:t>API</a:t>
            </a:r>
            <a:r>
              <a:rPr lang="zh-CN" altLang="en-US" dirty="0" smtClean="0"/>
              <a:t>没有提供的创建窗口和响应键盘</a:t>
            </a:r>
            <a:r>
              <a:rPr lang="en-US" altLang="zh-CN" dirty="0" smtClean="0"/>
              <a:t>/</a:t>
            </a:r>
            <a:r>
              <a:rPr lang="zh-CN" altLang="en-US" dirty="0" smtClean="0"/>
              <a:t>鼠标事件等功能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相似的库有</a:t>
            </a:r>
            <a:r>
              <a:rPr lang="en-US" altLang="zh-CN" dirty="0" smtClean="0"/>
              <a:t>GLUT/FREEGLUT</a:t>
            </a:r>
            <a:r>
              <a:rPr lang="zh-CN" altLang="en-US" dirty="0" smtClean="0"/>
              <a:t>，基本采用回调函数形式编写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549960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体系结构：层次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120725" y="6176963"/>
            <a:ext cx="4714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 </a:t>
            </a:r>
            <a:r>
              <a:rPr lang="en-US" altLang="zh-CN" dirty="0" smtClean="0"/>
              <a:t>Real-time </a:t>
            </a:r>
            <a:r>
              <a:rPr lang="en-US" altLang="zh-CN" dirty="0"/>
              <a:t>rendering </a:t>
            </a:r>
            <a:r>
              <a:rPr lang="en-US" altLang="zh-CN" dirty="0" smtClean="0"/>
              <a:t>calculations on Linux [1]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本节</a:t>
            </a:r>
            <a:r>
              <a:rPr lang="zh-CN" altLang="en-US" dirty="0" smtClean="0"/>
              <a:t>课的工作层次：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≈图形绘制引擎</a:t>
            </a:r>
            <a:endParaRPr lang="en-US" altLang="zh-CN" dirty="0" smtClean="0"/>
          </a:p>
          <a:p>
            <a:r>
              <a:rPr lang="zh-CN" altLang="en-US" dirty="0" smtClean="0"/>
              <a:t>前一个层次：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图形库</a:t>
            </a:r>
            <a:endParaRPr lang="en-US" altLang="zh-CN" dirty="0" smtClean="0"/>
          </a:p>
          <a:p>
            <a:r>
              <a:rPr lang="zh-CN" altLang="en-US" dirty="0" smtClean="0"/>
              <a:t>后一个层次</a:t>
            </a:r>
            <a:r>
              <a:rPr lang="zh-CN" altLang="en-US" dirty="0"/>
              <a:t>：</a:t>
            </a:r>
            <a:endParaRPr lang="en-US" altLang="zh-CN" dirty="0" smtClean="0"/>
          </a:p>
          <a:p>
            <a:pPr lvl="1"/>
            <a:r>
              <a:rPr lang="zh-CN" altLang="en-US" dirty="0"/>
              <a:t>图形应用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2185" y="935709"/>
            <a:ext cx="6898381" cy="517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561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体系结构：芯片组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6171460" y="6176963"/>
            <a:ext cx="4643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 diagram of a modern </a:t>
            </a:r>
            <a:r>
              <a:rPr lang="en-US" altLang="zh-CN" dirty="0" smtClean="0"/>
              <a:t>motherboard [2]</a:t>
            </a:r>
            <a:endParaRPr lang="zh-CN" altLang="en-US" dirty="0"/>
          </a:p>
        </p:txBody>
      </p:sp>
      <p:sp>
        <p:nvSpPr>
          <p:cNvPr id="15" name="内容占位符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显存里存储哪些信息：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顶点缓存 </a:t>
            </a:r>
            <a:r>
              <a:rPr lang="en-US" altLang="zh-CN" dirty="0" smtClean="0"/>
              <a:t>Vertex Buffer</a:t>
            </a:r>
          </a:p>
          <a:p>
            <a:pPr lvl="1"/>
            <a:r>
              <a:rPr lang="zh-CN" altLang="en-US" dirty="0" smtClean="0"/>
              <a:t>帧缓存 </a:t>
            </a:r>
            <a:r>
              <a:rPr lang="en-US" altLang="zh-CN" dirty="0" smtClean="0"/>
              <a:t>Frame Buffer</a:t>
            </a:r>
          </a:p>
          <a:p>
            <a:pPr lvl="1"/>
            <a:r>
              <a:rPr lang="zh-CN" altLang="en-US" dirty="0" smtClean="0"/>
              <a:t>纹理 </a:t>
            </a:r>
            <a:r>
              <a:rPr lang="en-US" altLang="zh-CN" dirty="0" smtClean="0"/>
              <a:t>Texture</a:t>
            </a:r>
          </a:p>
          <a:p>
            <a:pPr lvl="1"/>
            <a:r>
              <a:rPr lang="zh-CN" altLang="en-US" dirty="0"/>
              <a:t>着色</a:t>
            </a:r>
            <a:r>
              <a:rPr lang="zh-CN" altLang="en-US" dirty="0" smtClean="0"/>
              <a:t>器 </a:t>
            </a:r>
            <a:r>
              <a:rPr lang="en-US" altLang="zh-CN" dirty="0" err="1" smtClean="0"/>
              <a:t>Shader</a:t>
            </a:r>
            <a:endParaRPr lang="en-US" altLang="zh-CN" dirty="0" smtClean="0"/>
          </a:p>
          <a:p>
            <a:r>
              <a:rPr lang="zh-CN" altLang="en-US" dirty="0" smtClean="0"/>
              <a:t>内存里存储哪些信息：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进程</a:t>
            </a:r>
            <a:r>
              <a:rPr lang="zh-CN" altLang="en-US" dirty="0"/>
              <a:t>：</a:t>
            </a:r>
            <a:r>
              <a:rPr lang="zh-CN" altLang="en-US" dirty="0" smtClean="0"/>
              <a:t>代码、堆、栈、静态变量</a:t>
            </a:r>
            <a:r>
              <a:rPr lang="en-US" altLang="zh-CN" dirty="0" smtClean="0"/>
              <a:t>……</a:t>
            </a:r>
          </a:p>
          <a:p>
            <a:pPr lvl="1"/>
            <a:r>
              <a:rPr lang="zh-CN" altLang="en-US" dirty="0" smtClean="0"/>
              <a:t>视窗系统：图形设备接口，</a:t>
            </a:r>
            <a:r>
              <a:rPr lang="en-US" altLang="zh-CN" dirty="0" smtClean="0"/>
              <a:t>DC</a:t>
            </a:r>
          </a:p>
          <a:p>
            <a:pPr lvl="1"/>
            <a:r>
              <a:rPr lang="zh-CN" altLang="en-US" dirty="0" smtClean="0"/>
              <a:t>物理引擎：位置，形状，约束</a:t>
            </a:r>
            <a:r>
              <a:rPr lang="en-US" altLang="zh-CN" dirty="0" smtClean="0"/>
              <a:t>……</a:t>
            </a:r>
            <a:endParaRPr lang="zh-CN" altLang="en-US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846" y="581210"/>
            <a:ext cx="3524250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950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体系结构</a:t>
            </a:r>
            <a:r>
              <a:rPr lang="zh-CN" altLang="en-US" dirty="0" smtClean="0"/>
              <a:t>：渲染流程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OpenGL 4 </a:t>
            </a:r>
            <a:r>
              <a:rPr lang="zh-CN" altLang="en-US" dirty="0" smtClean="0"/>
              <a:t>渲染流水线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灰色部分是可编程的着色器，包括：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顶点着色器</a:t>
            </a:r>
            <a:endParaRPr lang="en-US" altLang="zh-CN" dirty="0" smtClean="0"/>
          </a:p>
          <a:p>
            <a:pPr lvl="2"/>
            <a:r>
              <a:rPr lang="zh-CN" altLang="en-US" dirty="0"/>
              <a:t>细分</a:t>
            </a:r>
            <a:r>
              <a:rPr lang="zh-CN" altLang="en-US" dirty="0" smtClean="0"/>
              <a:t>曲面着色器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几何着色器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片元着色器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相较于</a:t>
            </a:r>
            <a:r>
              <a:rPr lang="en-US" altLang="zh-CN" dirty="0" smtClean="0"/>
              <a:t>3</a:t>
            </a:r>
            <a:r>
              <a:rPr lang="zh-CN" altLang="en-US" dirty="0" smtClean="0"/>
              <a:t>，加入了</a:t>
            </a:r>
            <a:r>
              <a:rPr lang="en-US" altLang="zh-CN" dirty="0" smtClean="0"/>
              <a:t>Tessellation Control</a:t>
            </a:r>
            <a:br>
              <a:rPr lang="en-US" altLang="zh-CN" dirty="0" smtClean="0"/>
            </a:br>
            <a:r>
              <a:rPr lang="en-US" altLang="zh-CN" dirty="0" err="1" smtClean="0"/>
              <a:t>Shader</a:t>
            </a:r>
            <a:r>
              <a:rPr lang="zh-CN" altLang="en-US" dirty="0" smtClean="0"/>
              <a:t>和</a:t>
            </a:r>
            <a:r>
              <a:rPr lang="en-US" altLang="zh-CN" dirty="0" smtClean="0"/>
              <a:t>Tessellation Evaluation </a:t>
            </a:r>
            <a:r>
              <a:rPr lang="en-US" altLang="zh-CN" dirty="0" err="1" smtClean="0"/>
              <a:t>Shader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另外，几何着色器也获得了新特性</a:t>
            </a:r>
            <a:endParaRPr lang="en-US" altLang="zh-CN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2332" y="442913"/>
            <a:ext cx="2581275" cy="57340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553938" y="6176963"/>
            <a:ext cx="3878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Diagram of the Rendering </a:t>
            </a:r>
            <a:r>
              <a:rPr lang="en-US" altLang="zh-CN" dirty="0" smtClean="0"/>
              <a:t>Pipeline</a:t>
            </a:r>
            <a:r>
              <a:rPr lang="en-US" altLang="zh-CN" dirty="0"/>
              <a:t> </a:t>
            </a:r>
            <a:r>
              <a:rPr lang="en-US" altLang="zh-CN" dirty="0" smtClean="0"/>
              <a:t>[3]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046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环境配置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Visual Studio</a:t>
            </a:r>
            <a:r>
              <a:rPr lang="zh-CN" altLang="en-US" dirty="0" smtClean="0"/>
              <a:t>新建项目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空项目</a:t>
            </a:r>
            <a:endParaRPr lang="en-US" altLang="zh-CN" dirty="0" smtClean="0"/>
          </a:p>
          <a:p>
            <a:r>
              <a:rPr lang="zh-CN" altLang="en-US" dirty="0" smtClean="0"/>
              <a:t>右键点击“解决方案资源管理器”里的项目，选中“属性”</a:t>
            </a:r>
            <a:endParaRPr lang="en-US" altLang="zh-CN" dirty="0" smtClean="0"/>
          </a:p>
          <a:p>
            <a:r>
              <a:rPr lang="zh-CN" altLang="en-US" dirty="0"/>
              <a:t>更改</a:t>
            </a:r>
            <a:r>
              <a:rPr lang="zh-CN" altLang="en-US" dirty="0" smtClean="0"/>
              <a:t>“</a:t>
            </a:r>
            <a:r>
              <a:rPr lang="en-US" altLang="zh-CN" dirty="0" smtClean="0"/>
              <a:t>C/C++</a:t>
            </a:r>
            <a:r>
              <a:rPr lang="zh-CN" altLang="en-US" dirty="0" smtClean="0"/>
              <a:t>”下的“附加包含目录”为项目头文件放置位置</a:t>
            </a:r>
            <a:endParaRPr lang="en-US" altLang="zh-CN" dirty="0" smtClean="0"/>
          </a:p>
          <a:p>
            <a:r>
              <a:rPr lang="zh-CN" altLang="en-US" dirty="0"/>
              <a:t>更改</a:t>
            </a:r>
            <a:r>
              <a:rPr lang="zh-CN" altLang="en-US" dirty="0" smtClean="0"/>
              <a:t>“链接器”</a:t>
            </a:r>
            <a:r>
              <a:rPr lang="zh-CN" altLang="en-US" dirty="0"/>
              <a:t>下的</a:t>
            </a:r>
            <a:r>
              <a:rPr lang="zh-CN" altLang="en-US" dirty="0" smtClean="0"/>
              <a:t>“附加库目录”</a:t>
            </a:r>
            <a:r>
              <a:rPr lang="zh-CN" altLang="en-US" dirty="0"/>
              <a:t>为</a:t>
            </a:r>
            <a:r>
              <a:rPr lang="zh-CN" altLang="en-US" dirty="0" smtClean="0"/>
              <a:t>项目静态库文件</a:t>
            </a:r>
            <a:r>
              <a:rPr lang="zh-CN" altLang="en-US" dirty="0"/>
              <a:t>放置位置</a:t>
            </a:r>
            <a:endParaRPr lang="en-US" altLang="zh-CN" dirty="0"/>
          </a:p>
          <a:p>
            <a:r>
              <a:rPr lang="zh-CN" altLang="en-US" dirty="0" smtClean="0"/>
              <a:t>链接静态库可以采用两种方式：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1. </a:t>
            </a:r>
            <a:r>
              <a:rPr lang="zh-CN" altLang="en-US" dirty="0" smtClean="0"/>
              <a:t>在头文件中写入 </a:t>
            </a:r>
            <a:r>
              <a:rPr lang="en-US" altLang="zh-CN" dirty="0" smtClean="0"/>
              <a:t>#pragma comment(lib</a:t>
            </a:r>
            <a:r>
              <a:rPr lang="en-US" altLang="zh-CN" dirty="0"/>
              <a:t>, </a:t>
            </a:r>
            <a:r>
              <a:rPr lang="en-US" altLang="zh-CN" dirty="0" smtClean="0"/>
              <a:t>"*.lib")</a:t>
            </a:r>
            <a:r>
              <a:rPr lang="zh-CN" altLang="en-US" dirty="0" smtClean="0"/>
              <a:t>，将*替换为需要的库名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2. </a:t>
            </a:r>
            <a:r>
              <a:rPr lang="zh-CN" altLang="en-US" dirty="0" smtClean="0"/>
              <a:t>在“链接器”下的子页“输入”中更改“附加依赖项”，加入所有库</a:t>
            </a:r>
            <a:endParaRPr lang="en-US" altLang="zh-CN" dirty="0" smtClean="0"/>
          </a:p>
          <a:p>
            <a:r>
              <a:rPr lang="zh-CN" altLang="en-US" dirty="0" smtClean="0"/>
              <a:t>将动态库放入可执行文件目录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6483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示例程序：</a:t>
            </a:r>
            <a:r>
              <a:rPr lang="en-US" altLang="zh-CN" dirty="0" smtClean="0"/>
              <a:t>Triangle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" y="1441177"/>
            <a:ext cx="7729584" cy="512023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341" y="365125"/>
            <a:ext cx="5624651" cy="583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329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</a:t>
            </a:r>
            <a:r>
              <a:rPr lang="zh-CN" altLang="en-US" dirty="0" smtClean="0"/>
              <a:t>分析：</a:t>
            </a:r>
            <a:r>
              <a:rPr lang="en-US" altLang="zh-CN" dirty="0" smtClean="0"/>
              <a:t>GLFW</a:t>
            </a:r>
            <a:r>
              <a:rPr lang="zh-CN" altLang="en-US" dirty="0" smtClean="0"/>
              <a:t>初始化与终止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1863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 err="1" smtClean="0"/>
              <a:t>glfwInit</a:t>
            </a:r>
            <a:r>
              <a:rPr lang="en-US" altLang="zh-CN" dirty="0" smtClean="0"/>
              <a:t>()</a:t>
            </a:r>
          </a:p>
          <a:p>
            <a:pPr lvl="1"/>
            <a:r>
              <a:rPr lang="zh-CN" altLang="en-US" dirty="0" smtClean="0"/>
              <a:t>初始化</a:t>
            </a:r>
            <a:r>
              <a:rPr lang="en-US" altLang="zh-CN" dirty="0" smtClean="0"/>
              <a:t>GLFW</a:t>
            </a:r>
            <a:r>
              <a:rPr lang="zh-CN" altLang="en-US" dirty="0" smtClean="0"/>
              <a:t>环境 </a:t>
            </a:r>
            <a:endParaRPr lang="en-US" altLang="zh-CN" dirty="0" smtClean="0"/>
          </a:p>
          <a:p>
            <a:r>
              <a:rPr lang="en-US" altLang="zh-CN" dirty="0" err="1" smtClean="0"/>
              <a:t>glfwWindowHint</a:t>
            </a:r>
            <a:r>
              <a:rPr lang="en-US" altLang="zh-CN" dirty="0" smtClean="0"/>
              <a:t>()</a:t>
            </a:r>
          </a:p>
          <a:p>
            <a:pPr lvl="1"/>
            <a:r>
              <a:rPr lang="zh-CN" altLang="en-US" dirty="0" smtClean="0"/>
              <a:t>指定</a:t>
            </a:r>
            <a:r>
              <a:rPr lang="en-US" altLang="zh-CN" dirty="0" smtClean="0"/>
              <a:t>GL API</a:t>
            </a:r>
            <a:r>
              <a:rPr lang="zh-CN" altLang="en-US" dirty="0" smtClean="0"/>
              <a:t>版本</a:t>
            </a:r>
            <a:endParaRPr lang="en-US" altLang="zh-CN" dirty="0" smtClean="0"/>
          </a:p>
          <a:p>
            <a:r>
              <a:rPr lang="en-US" altLang="zh-CN" dirty="0" err="1" smtClean="0"/>
              <a:t>glfwCreateWindow</a:t>
            </a:r>
            <a:r>
              <a:rPr lang="en-US" altLang="zh-CN" dirty="0" smtClean="0"/>
              <a:t>()</a:t>
            </a:r>
          </a:p>
          <a:p>
            <a:pPr lvl="1"/>
            <a:r>
              <a:rPr lang="zh-CN" altLang="en-US" dirty="0" smtClean="0"/>
              <a:t>创建窗口</a:t>
            </a:r>
            <a:r>
              <a:rPr lang="en-US" altLang="zh-CN" dirty="0" smtClean="0"/>
              <a:t>(</a:t>
            </a:r>
            <a:r>
              <a:rPr lang="zh-CN" altLang="en-US" dirty="0" smtClean="0"/>
              <a:t>同时创建</a:t>
            </a:r>
            <a:r>
              <a:rPr lang="en-US" altLang="zh-CN" dirty="0" smtClean="0"/>
              <a:t>DC)</a:t>
            </a:r>
          </a:p>
          <a:p>
            <a:r>
              <a:rPr lang="en-US" altLang="zh-CN" dirty="0" err="1" smtClean="0"/>
              <a:t>glfwMakeContextCurrent</a:t>
            </a:r>
            <a:r>
              <a:rPr lang="en-US" altLang="zh-CN" dirty="0" smtClean="0"/>
              <a:t>()</a:t>
            </a:r>
          </a:p>
          <a:p>
            <a:pPr lvl="1"/>
            <a:r>
              <a:rPr lang="zh-CN" altLang="en-US" dirty="0" smtClean="0"/>
              <a:t>指定当前窗口</a:t>
            </a:r>
            <a:r>
              <a:rPr lang="en-US" altLang="zh-CN" dirty="0" smtClean="0"/>
              <a:t>DC</a:t>
            </a:r>
          </a:p>
          <a:p>
            <a:r>
              <a:rPr lang="en-US" altLang="zh-CN" dirty="0" err="1" smtClean="0"/>
              <a:t>glfwSwapInterval</a:t>
            </a:r>
            <a:r>
              <a:rPr lang="en-US" altLang="zh-CN" dirty="0" smtClean="0"/>
              <a:t>()</a:t>
            </a:r>
          </a:p>
          <a:p>
            <a:pPr lvl="1"/>
            <a:r>
              <a:rPr lang="zh-CN" altLang="en-US" dirty="0"/>
              <a:t>垂直</a:t>
            </a:r>
            <a:r>
              <a:rPr lang="zh-CN" altLang="en-US" dirty="0" smtClean="0"/>
              <a:t>同步</a:t>
            </a:r>
            <a:endParaRPr lang="en-US" altLang="zh-CN" dirty="0"/>
          </a:p>
          <a:p>
            <a:pPr lvl="1"/>
            <a:r>
              <a:rPr lang="en-US" altLang="zh-CN" dirty="0" smtClean="0"/>
              <a:t>0=</a:t>
            </a:r>
            <a:r>
              <a:rPr lang="zh-CN" altLang="en-US" dirty="0" smtClean="0"/>
              <a:t>不开启，</a:t>
            </a:r>
            <a:r>
              <a:rPr lang="en-US" altLang="zh-CN" dirty="0" smtClean="0"/>
              <a:t>1=</a:t>
            </a:r>
            <a:r>
              <a:rPr lang="zh-CN" altLang="en-US" dirty="0" smtClean="0"/>
              <a:t>开启</a:t>
            </a:r>
            <a:endParaRPr lang="en-US" altLang="zh-CN" dirty="0" smtClean="0"/>
          </a:p>
          <a:p>
            <a:r>
              <a:rPr lang="en-US" altLang="zh-CN" dirty="0" err="1" smtClean="0"/>
              <a:t>glfwDestroyWindow</a:t>
            </a:r>
            <a:r>
              <a:rPr lang="en-US" altLang="zh-CN" dirty="0" smtClean="0"/>
              <a:t>()</a:t>
            </a:r>
          </a:p>
          <a:p>
            <a:pPr lvl="1"/>
            <a:r>
              <a:rPr lang="zh-CN" altLang="en-US" dirty="0" smtClean="0"/>
              <a:t>销毁窗口</a:t>
            </a:r>
            <a:endParaRPr lang="en-US" altLang="zh-CN" dirty="0" smtClean="0"/>
          </a:p>
          <a:p>
            <a:r>
              <a:rPr lang="en-US" altLang="zh-CN" dirty="0" err="1" smtClean="0"/>
              <a:t>glfwTerminate</a:t>
            </a:r>
            <a:r>
              <a:rPr lang="en-US" altLang="zh-CN" dirty="0" smtClean="0"/>
              <a:t>()</a:t>
            </a:r>
          </a:p>
          <a:p>
            <a:pPr lvl="1"/>
            <a:r>
              <a:rPr lang="zh-CN" altLang="en-US" dirty="0" smtClean="0"/>
              <a:t>终止</a:t>
            </a:r>
            <a:r>
              <a:rPr lang="en-US" altLang="zh-CN" dirty="0" smtClean="0"/>
              <a:t>GLFW</a:t>
            </a:r>
            <a:r>
              <a:rPr lang="zh-CN" altLang="en-US" dirty="0"/>
              <a:t>环境 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905" y="1422401"/>
            <a:ext cx="7667625" cy="42291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783" y="5776913"/>
            <a:ext cx="381000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45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相关概念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4872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 smtClean="0"/>
              <a:t>OpenGL</a:t>
            </a:r>
            <a:r>
              <a:rPr lang="zh-CN" altLang="en-US" dirty="0" smtClean="0"/>
              <a:t>应用程序接口</a:t>
            </a:r>
            <a:r>
              <a:rPr lang="en-US" altLang="zh-CN" dirty="0" smtClean="0"/>
              <a:t>(Application </a:t>
            </a:r>
            <a:r>
              <a:rPr lang="en-US" altLang="zh-CN" dirty="0"/>
              <a:t>Programming </a:t>
            </a:r>
            <a:r>
              <a:rPr lang="en-US" altLang="zh-CN" dirty="0" smtClean="0"/>
              <a:t>Interface, API)</a:t>
            </a:r>
          </a:p>
          <a:p>
            <a:pPr lvl="1"/>
            <a:r>
              <a:rPr lang="en-US" altLang="zh-CN" dirty="0" smtClean="0"/>
              <a:t>OpenGL</a:t>
            </a:r>
            <a:r>
              <a:rPr lang="zh-CN" altLang="en-US" dirty="0"/>
              <a:t>约定</a:t>
            </a:r>
            <a:r>
              <a:rPr lang="zh-CN" altLang="en-US" dirty="0" smtClean="0"/>
              <a:t>的接口函数，基本上</a:t>
            </a:r>
            <a:r>
              <a:rPr lang="en-US" altLang="zh-CN" dirty="0" err="1" smtClean="0"/>
              <a:t>gl</a:t>
            </a:r>
            <a:r>
              <a:rPr lang="zh-CN" altLang="en-US" dirty="0" smtClean="0"/>
              <a:t>开头的函数都属于这一范畴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经历了四个大版本，目前最新版是</a:t>
            </a:r>
            <a:r>
              <a:rPr lang="en-US" altLang="zh-CN" dirty="0" smtClean="0"/>
              <a:t>OpenGL 4.6</a:t>
            </a:r>
            <a:r>
              <a:rPr lang="zh-CN" altLang="en-US" dirty="0" smtClean="0"/>
              <a:t>（更新于</a:t>
            </a:r>
            <a:r>
              <a:rPr lang="en-US" altLang="zh-CN" dirty="0" smtClean="0"/>
              <a:t>2017</a:t>
            </a:r>
            <a:r>
              <a:rPr lang="zh-CN" altLang="en-US" dirty="0" smtClean="0"/>
              <a:t>年</a:t>
            </a:r>
            <a:r>
              <a:rPr lang="en-US" altLang="zh-CN" dirty="0" smtClean="0"/>
              <a:t>7</a:t>
            </a:r>
            <a:r>
              <a:rPr lang="zh-CN" altLang="en-US" dirty="0" smtClean="0"/>
              <a:t>月</a:t>
            </a:r>
            <a:r>
              <a:rPr lang="en-US" altLang="zh-CN" dirty="0" smtClean="0"/>
              <a:t>30</a:t>
            </a:r>
            <a:r>
              <a:rPr lang="zh-CN" altLang="en-US" dirty="0" smtClean="0"/>
              <a:t>日）</a:t>
            </a:r>
            <a:endParaRPr lang="en-US" altLang="zh-CN" dirty="0" smtClean="0"/>
          </a:p>
          <a:p>
            <a:r>
              <a:rPr lang="en-US" altLang="zh-CN" dirty="0" smtClean="0"/>
              <a:t>Windows</a:t>
            </a:r>
            <a:r>
              <a:rPr lang="zh-CN" altLang="en-US" dirty="0" smtClean="0"/>
              <a:t>图形设备</a:t>
            </a:r>
            <a:r>
              <a:rPr lang="zh-CN" altLang="en-US" dirty="0"/>
              <a:t>接口</a:t>
            </a:r>
            <a:r>
              <a:rPr lang="en-US" altLang="zh-CN" dirty="0"/>
              <a:t>(Graphics Device Interface, </a:t>
            </a:r>
            <a:r>
              <a:rPr lang="en-US" altLang="zh-CN" dirty="0" smtClean="0"/>
              <a:t>GDI); DC</a:t>
            </a:r>
          </a:p>
          <a:p>
            <a:pPr lvl="1"/>
            <a:r>
              <a:rPr lang="en-US" altLang="zh-CN" dirty="0" smtClean="0"/>
              <a:t>GDI</a:t>
            </a:r>
            <a:r>
              <a:rPr lang="zh-CN" altLang="en-US" dirty="0" smtClean="0"/>
              <a:t>是</a:t>
            </a:r>
            <a:r>
              <a:rPr lang="en-US" altLang="zh-CN" dirty="0" smtClean="0"/>
              <a:t>Windows</a:t>
            </a:r>
            <a:r>
              <a:rPr lang="zh-CN" altLang="en-US" dirty="0" smtClean="0"/>
              <a:t>操作系统的一个核心模块，负责表征图形对象及将其传输到图像输出设备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DC(Device Context)</a:t>
            </a:r>
            <a:r>
              <a:rPr lang="zh-CN" altLang="en-US" dirty="0" smtClean="0"/>
              <a:t>，存储了需要输出的文字和图像信息。</a:t>
            </a:r>
            <a:r>
              <a:rPr lang="en-US" altLang="zh-CN" dirty="0" smtClean="0"/>
              <a:t>DC</a:t>
            </a:r>
            <a:r>
              <a:rPr lang="zh-CN" altLang="en-US" dirty="0" smtClean="0"/>
              <a:t>由</a:t>
            </a:r>
            <a:r>
              <a:rPr lang="en-US" altLang="zh-CN" dirty="0" smtClean="0"/>
              <a:t>GDI</a:t>
            </a:r>
            <a:r>
              <a:rPr lang="zh-CN" altLang="en-US" dirty="0" smtClean="0"/>
              <a:t>管理，一般每个窗口对应一个</a:t>
            </a:r>
            <a:r>
              <a:rPr lang="en-US" altLang="zh-CN" dirty="0" smtClean="0"/>
              <a:t>DC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垂直同步</a:t>
            </a:r>
            <a:r>
              <a:rPr lang="en-US" altLang="zh-CN" dirty="0" smtClean="0"/>
              <a:t>(Vertical Synchronization, V-Sync)</a:t>
            </a:r>
          </a:p>
          <a:p>
            <a:pPr lvl="1"/>
            <a:r>
              <a:rPr lang="zh-CN" altLang="en-US" dirty="0"/>
              <a:t>帧</a:t>
            </a:r>
            <a:r>
              <a:rPr lang="zh-CN" altLang="en-US" dirty="0" smtClean="0"/>
              <a:t>速率（</a:t>
            </a:r>
            <a:r>
              <a:rPr lang="en-US" altLang="zh-CN" dirty="0" smtClean="0"/>
              <a:t>Frame rate, </a:t>
            </a:r>
            <a:r>
              <a:rPr lang="zh-CN" altLang="en-US" dirty="0" smtClean="0"/>
              <a:t>常见单位</a:t>
            </a:r>
            <a:r>
              <a:rPr lang="en-US" altLang="zh-CN" dirty="0" smtClean="0"/>
              <a:t>frames per second, FPS</a:t>
            </a:r>
            <a:r>
              <a:rPr lang="zh-CN" altLang="en-US" dirty="0" smtClean="0"/>
              <a:t>）表示图像帧生成的速度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屏幕刷新率（</a:t>
            </a:r>
            <a:r>
              <a:rPr lang="en-US" altLang="zh-CN" dirty="0" smtClean="0"/>
              <a:t>Refresh rate, </a:t>
            </a:r>
            <a:r>
              <a:rPr lang="zh-CN" altLang="en-US" dirty="0" smtClean="0"/>
              <a:t>常见单位</a:t>
            </a:r>
            <a:r>
              <a:rPr lang="en-US" altLang="zh-CN" dirty="0" smtClean="0"/>
              <a:t>Hz</a:t>
            </a:r>
            <a:r>
              <a:rPr lang="zh-CN" altLang="en-US" dirty="0" smtClean="0"/>
              <a:t>）表示屏幕刷新图像的频率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若帧速率大于屏幕刷新率，则多出的帧对画面表现无明显影响；可能对显卡造成额外负担；若未采用双缓存，可能造成画面撕裂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垂直同步开启后，帧速率受限，将</a:t>
            </a:r>
            <a:r>
              <a:rPr lang="en-US" altLang="zh-CN" dirty="0" smtClean="0"/>
              <a:t>&lt;=</a:t>
            </a:r>
            <a:r>
              <a:rPr lang="zh-CN" altLang="en-US" dirty="0" smtClean="0"/>
              <a:t>屏幕刷新率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3233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代码分析：</a:t>
            </a:r>
            <a:r>
              <a:rPr lang="en-US" altLang="zh-CN" dirty="0" smtClean="0"/>
              <a:t>GLEW</a:t>
            </a:r>
            <a:r>
              <a:rPr lang="zh-CN" altLang="en-US" dirty="0" smtClean="0"/>
              <a:t>初始化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glewInit</a:t>
            </a:r>
            <a:r>
              <a:rPr lang="en-US" altLang="zh-CN" dirty="0" smtClean="0"/>
              <a:t>()</a:t>
            </a:r>
          </a:p>
          <a:p>
            <a:pPr lvl="1"/>
            <a:r>
              <a:rPr lang="zh-CN" altLang="en-US" dirty="0" smtClean="0"/>
              <a:t>初始化</a:t>
            </a:r>
            <a:r>
              <a:rPr lang="en-US" altLang="zh-CN" dirty="0" err="1" smtClean="0"/>
              <a:t>glew</a:t>
            </a:r>
            <a:r>
              <a:rPr lang="zh-CN" altLang="en-US" dirty="0" smtClean="0"/>
              <a:t>环境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本质上是获取并定义相应</a:t>
            </a:r>
            <a:r>
              <a:rPr lang="en-US" altLang="zh-CN" dirty="0" smtClean="0"/>
              <a:t>GL</a:t>
            </a:r>
            <a:r>
              <a:rPr lang="zh-CN" altLang="en-US" dirty="0" smtClean="0"/>
              <a:t>函数的入口（函数指针）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必须写在设定当前</a:t>
            </a:r>
            <a:r>
              <a:rPr lang="en-US" altLang="zh-CN" dirty="0" smtClean="0"/>
              <a:t>OpenGL Context</a:t>
            </a:r>
            <a:r>
              <a:rPr lang="zh-CN" altLang="en-US" dirty="0" smtClean="0"/>
              <a:t>的语句（如</a:t>
            </a:r>
            <a:r>
              <a:rPr lang="en-US" altLang="zh-CN" dirty="0" err="1" smtClean="0"/>
              <a:t>glfwMakeContextCurrent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）之后，否则没有相关上下文，无法正确完成获取操作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925" y="4079389"/>
            <a:ext cx="4248150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443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代码分析：数据准备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顶点</a:t>
            </a:r>
            <a:r>
              <a:rPr lang="en-US" altLang="zh-CN" dirty="0" smtClean="0"/>
              <a:t>/</a:t>
            </a:r>
            <a:r>
              <a:rPr lang="zh-CN" altLang="en-US" dirty="0" smtClean="0"/>
              <a:t>面片数据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开发者可自行定义，也可以由数据标准定义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顶点数据包括每个顶点都具有的（与绘制相关的）数据，如位置、颜色、纹理坐标、蒙皮权重等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可由文件读入，目前流行的格式有</a:t>
            </a:r>
            <a:r>
              <a:rPr lang="en-US" altLang="zh-CN" dirty="0" smtClean="0"/>
              <a:t>.</a:t>
            </a:r>
            <a:r>
              <a:rPr lang="en-US" altLang="zh-CN" dirty="0" err="1" smtClean="0"/>
              <a:t>obj</a:t>
            </a:r>
            <a:r>
              <a:rPr lang="en-US" altLang="zh-CN" dirty="0" smtClean="0"/>
              <a:t> (</a:t>
            </a:r>
            <a:r>
              <a:rPr lang="en-US" altLang="zh-CN" dirty="0" err="1" smtClean="0"/>
              <a:t>Wavefront</a:t>
            </a:r>
            <a:r>
              <a:rPr lang="en-US" altLang="zh-CN" dirty="0" smtClean="0"/>
              <a:t>), .</a:t>
            </a:r>
            <a:r>
              <a:rPr lang="en-US" altLang="zh-CN" dirty="0" err="1" smtClean="0"/>
              <a:t>fbx</a:t>
            </a:r>
            <a:r>
              <a:rPr lang="en-US" altLang="zh-CN" dirty="0" smtClean="0"/>
              <a:t> (Autodesk), .</a:t>
            </a:r>
            <a:r>
              <a:rPr lang="en-US" altLang="zh-CN" dirty="0" err="1" smtClean="0"/>
              <a:t>dae</a:t>
            </a:r>
            <a:r>
              <a:rPr lang="en-US" altLang="zh-CN" dirty="0" smtClean="0"/>
              <a:t> (aka. COLLADA)</a:t>
            </a:r>
            <a:r>
              <a:rPr lang="zh-CN" altLang="en-US" dirty="0" smtClean="0"/>
              <a:t>等。</a:t>
            </a:r>
            <a:r>
              <a:rPr lang="en-US" altLang="zh-CN" dirty="0" smtClean="0"/>
              <a:t>COLLADA</a:t>
            </a:r>
            <a:r>
              <a:rPr lang="zh-CN" altLang="en-US" dirty="0" smtClean="0"/>
              <a:t>由目前更新与维护</a:t>
            </a:r>
            <a:r>
              <a:rPr lang="en-US" altLang="zh-CN" dirty="0" smtClean="0"/>
              <a:t>OpenGL</a:t>
            </a:r>
            <a:r>
              <a:rPr lang="zh-CN" altLang="en-US" dirty="0" smtClean="0"/>
              <a:t>标准的</a:t>
            </a:r>
            <a:r>
              <a:rPr lang="en-US" altLang="zh-CN" dirty="0" err="1"/>
              <a:t>Khronos</a:t>
            </a:r>
            <a:r>
              <a:rPr lang="en-US" altLang="zh-CN" dirty="0"/>
              <a:t> </a:t>
            </a:r>
            <a:r>
              <a:rPr lang="en-US" altLang="zh-CN" dirty="0" smtClean="0"/>
              <a:t>Group</a:t>
            </a:r>
            <a:r>
              <a:rPr lang="zh-CN" altLang="en-US" dirty="0" smtClean="0"/>
              <a:t>管理</a:t>
            </a:r>
            <a:endParaRPr lang="en-US" altLang="zh-CN" dirty="0" smtClean="0"/>
          </a:p>
          <a:p>
            <a:pPr lvl="1"/>
            <a:r>
              <a:rPr lang="zh-CN" altLang="en-US" dirty="0"/>
              <a:t>示例中定义了二维坐标表示的</a:t>
            </a:r>
            <a:r>
              <a:rPr lang="zh-CN" altLang="en-US" dirty="0" smtClean="0"/>
              <a:t>位置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和</a:t>
            </a:r>
            <a:r>
              <a:rPr lang="en-US" altLang="zh-CN" dirty="0"/>
              <a:t>RGB</a:t>
            </a:r>
            <a:r>
              <a:rPr lang="zh-CN" altLang="en-US" dirty="0"/>
              <a:t>表示的</a:t>
            </a:r>
            <a:r>
              <a:rPr lang="zh-CN" altLang="en-US" dirty="0" smtClean="0"/>
              <a:t>颜色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780" y="4338638"/>
            <a:ext cx="4371975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279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代码分析：数据准备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着色</a:t>
            </a:r>
            <a:r>
              <a:rPr lang="zh-CN" altLang="en-US" dirty="0" smtClean="0"/>
              <a:t>器程序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程序本身是字符串，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没有额外的二进制数据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示例中写在主程序内，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但强烈建议写成文本文件，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否则需占用静态区空间，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 smtClean="0"/>
              <a:t>且每次更改需要重新编译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语法和注意事项之后会详解</a:t>
            </a: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730" y="2091531"/>
            <a:ext cx="6619875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600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代码分析</a:t>
            </a:r>
            <a:r>
              <a:rPr lang="zh-CN" altLang="en-US" dirty="0" smtClean="0"/>
              <a:t>：注册回调函数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编写具有特定参数和返回值的回调函数</a:t>
            </a:r>
            <a:r>
              <a:rPr lang="en-US" altLang="zh-CN" dirty="0" smtClean="0"/>
              <a:t>(Callback Function</a:t>
            </a:r>
            <a:r>
              <a:rPr lang="en-US" altLang="zh-CN" dirty="0"/>
              <a:t>)</a:t>
            </a:r>
            <a:r>
              <a:rPr lang="zh-CN" altLang="en-US" dirty="0" smtClean="0"/>
              <a:t>，使用</a:t>
            </a:r>
            <a:r>
              <a:rPr lang="en-US" altLang="zh-CN" dirty="0" err="1" smtClean="0"/>
              <a:t>glfwSet</a:t>
            </a:r>
            <a:r>
              <a:rPr lang="en-US" altLang="zh-CN" dirty="0" smtClean="0"/>
              <a:t>*Callback()</a:t>
            </a:r>
            <a:r>
              <a:rPr lang="zh-CN" altLang="en-US" dirty="0" smtClean="0"/>
              <a:t>注册</a:t>
            </a:r>
            <a:endParaRPr lang="en-US" altLang="zh-CN" dirty="0" smtClean="0"/>
          </a:p>
          <a:p>
            <a:r>
              <a:rPr lang="zh-CN" altLang="en-US" dirty="0" smtClean="0"/>
              <a:t>示例中</a:t>
            </a:r>
            <a:r>
              <a:rPr lang="en-US" altLang="zh-CN" dirty="0" err="1" smtClean="0"/>
              <a:t>error_callback</a:t>
            </a:r>
            <a:r>
              <a:rPr lang="zh-CN" altLang="en-US" dirty="0" smtClean="0"/>
              <a:t>处理错误信息，</a:t>
            </a:r>
            <a:r>
              <a:rPr lang="en-US" altLang="zh-CN" dirty="0" err="1" smtClean="0"/>
              <a:t>key_callback</a:t>
            </a:r>
            <a:r>
              <a:rPr lang="zh-CN" altLang="en-US" dirty="0" smtClean="0"/>
              <a:t>处理键盘消息</a:t>
            </a: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044" y="3325952"/>
            <a:ext cx="9763125" cy="22669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288" y="5876231"/>
            <a:ext cx="4838700" cy="2190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922" y="6277908"/>
            <a:ext cx="5286375" cy="23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733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相关概念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回调函</a:t>
            </a:r>
            <a:r>
              <a:rPr lang="zh-CN" altLang="en-US" dirty="0" smtClean="0"/>
              <a:t>数</a:t>
            </a:r>
            <a:r>
              <a:rPr lang="en-US" altLang="zh-CN" dirty="0" smtClean="0"/>
              <a:t>(Callback Function)</a:t>
            </a:r>
          </a:p>
          <a:p>
            <a:pPr lvl="1"/>
            <a:r>
              <a:rPr lang="zh-CN" altLang="en-US" dirty="0" smtClean="0"/>
              <a:t>传入可执行代码段，供其他代码调用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</a:t>
            </a:r>
            <a:r>
              <a:rPr lang="en-US" altLang="zh-CN" dirty="0" smtClean="0"/>
              <a:t>GLUT/FREEGLUT</a:t>
            </a:r>
            <a:r>
              <a:rPr lang="zh-CN" altLang="en-US" dirty="0" smtClean="0"/>
              <a:t>中，有</a:t>
            </a:r>
            <a:r>
              <a:rPr lang="en-US" altLang="zh-CN" dirty="0" err="1" smtClean="0"/>
              <a:t>DisplayFunc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IdleFunc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ReshapeFunc</a:t>
            </a:r>
            <a:r>
              <a:rPr lang="zh-CN" altLang="en-US" dirty="0" smtClean="0"/>
              <a:t>等回调函数，在</a:t>
            </a:r>
            <a:r>
              <a:rPr lang="zh-CN" altLang="en-US" dirty="0"/>
              <a:t>主</a:t>
            </a:r>
            <a:r>
              <a:rPr lang="zh-CN" altLang="en-US" dirty="0" smtClean="0"/>
              <a:t>循环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MainLoop</a:t>
            </a:r>
            <a:r>
              <a:rPr lang="en-US" altLang="zh-CN" dirty="0" smtClean="0"/>
              <a:t>)</a:t>
            </a:r>
            <a:r>
              <a:rPr lang="zh-CN" altLang="en-US" dirty="0" smtClean="0"/>
              <a:t>检测到相关事件后</a:t>
            </a:r>
            <a:r>
              <a:rPr lang="zh-CN" altLang="en-US" dirty="0"/>
              <a:t>调用</a:t>
            </a:r>
            <a:r>
              <a:rPr lang="zh-CN" altLang="en-US" dirty="0" smtClean="0"/>
              <a:t>对应的回调函数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如：窗口大小改变事件产生后，</a:t>
            </a:r>
            <a:r>
              <a:rPr lang="en-US" altLang="zh-CN" dirty="0" err="1" smtClean="0"/>
              <a:t>MainLoop</a:t>
            </a:r>
            <a:r>
              <a:rPr lang="zh-CN" altLang="en-US" dirty="0" smtClean="0"/>
              <a:t>调用</a:t>
            </a:r>
            <a:r>
              <a:rPr lang="en-US" altLang="zh-CN" dirty="0" err="1" smtClean="0"/>
              <a:t>ReshapeFunc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</a:t>
            </a:r>
            <a:r>
              <a:rPr lang="en-US" altLang="zh-CN" dirty="0" smtClean="0"/>
              <a:t>GLFW</a:t>
            </a:r>
            <a:r>
              <a:rPr lang="zh-CN" altLang="en-US" dirty="0" smtClean="0"/>
              <a:t>中，主循环由开发者编写，事件检测和回调函数调用由</a:t>
            </a:r>
            <a:r>
              <a:rPr lang="en-US" altLang="zh-CN" dirty="0" err="1" smtClean="0"/>
              <a:t>glfwPollEvents</a:t>
            </a:r>
            <a:r>
              <a:rPr lang="en-US" altLang="zh-CN" dirty="0" smtClean="0"/>
              <a:t>()</a:t>
            </a:r>
            <a:r>
              <a:rPr lang="zh-CN" altLang="en-US" dirty="0" smtClean="0"/>
              <a:t>完成</a:t>
            </a:r>
            <a:endParaRPr lang="en-US" altLang="zh-CN" dirty="0" smtClean="0"/>
          </a:p>
          <a:p>
            <a:pPr lvl="2"/>
            <a:r>
              <a:rPr lang="zh-CN" altLang="en-US" dirty="0"/>
              <a:t>一定</a:t>
            </a:r>
            <a:r>
              <a:rPr lang="zh-CN" altLang="en-US" dirty="0" smtClean="0"/>
              <a:t>要记得在主循环中写上</a:t>
            </a:r>
            <a:r>
              <a:rPr lang="en-US" altLang="zh-CN" dirty="0" err="1"/>
              <a:t>glfwPollEvents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！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3661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代码分析</a:t>
            </a:r>
            <a:r>
              <a:rPr lang="zh-CN" altLang="en-US" dirty="0" smtClean="0"/>
              <a:t>：创建</a:t>
            </a:r>
            <a:r>
              <a:rPr lang="en-US" altLang="zh-CN" dirty="0" smtClean="0"/>
              <a:t>/</a:t>
            </a:r>
            <a:r>
              <a:rPr lang="zh-CN" altLang="en-US" dirty="0" smtClean="0"/>
              <a:t>编译</a:t>
            </a:r>
            <a:r>
              <a:rPr lang="en-US" altLang="zh-CN" dirty="0" smtClean="0"/>
              <a:t>/</a:t>
            </a:r>
            <a:r>
              <a:rPr lang="zh-CN" altLang="en-US" dirty="0" smtClean="0"/>
              <a:t>链接着色器程序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9209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 err="1" smtClean="0"/>
              <a:t>glCreateShader</a:t>
            </a:r>
            <a:r>
              <a:rPr lang="en-US" altLang="zh-CN" dirty="0" smtClean="0"/>
              <a:t>()</a:t>
            </a:r>
          </a:p>
          <a:p>
            <a:pPr lvl="1"/>
            <a:r>
              <a:rPr lang="zh-CN" altLang="en-US" dirty="0" smtClean="0"/>
              <a:t>分配着色器</a:t>
            </a:r>
            <a:r>
              <a:rPr lang="en-US" altLang="zh-CN" dirty="0" smtClean="0"/>
              <a:t>ID</a:t>
            </a:r>
          </a:p>
          <a:p>
            <a:r>
              <a:rPr lang="en-US" altLang="zh-CN" dirty="0" err="1" smtClean="0"/>
              <a:t>glShaderSource</a:t>
            </a:r>
            <a:r>
              <a:rPr lang="en-US" altLang="zh-CN" dirty="0" smtClean="0"/>
              <a:t>()</a:t>
            </a:r>
          </a:p>
          <a:p>
            <a:pPr lvl="1"/>
            <a:r>
              <a:rPr lang="zh-CN" altLang="en-US" dirty="0" smtClean="0"/>
              <a:t>指定着色器源码</a:t>
            </a:r>
            <a:endParaRPr lang="en-US" altLang="zh-CN" dirty="0" smtClean="0"/>
          </a:p>
          <a:p>
            <a:r>
              <a:rPr lang="en-US" altLang="zh-CN" dirty="0" err="1" smtClean="0"/>
              <a:t>glCompileShader</a:t>
            </a:r>
            <a:r>
              <a:rPr lang="en-US" altLang="zh-CN" dirty="0" smtClean="0"/>
              <a:t>()</a:t>
            </a:r>
          </a:p>
          <a:p>
            <a:pPr lvl="1"/>
            <a:r>
              <a:rPr lang="zh-CN" altLang="en-US" dirty="0" smtClean="0"/>
              <a:t>编译着色器</a:t>
            </a:r>
            <a:endParaRPr lang="en-US" altLang="zh-CN" dirty="0" smtClean="0"/>
          </a:p>
          <a:p>
            <a:r>
              <a:rPr lang="en-US" altLang="zh-CN" dirty="0" err="1" smtClean="0"/>
              <a:t>glCreateProgram</a:t>
            </a:r>
            <a:r>
              <a:rPr lang="en-US" altLang="zh-CN" dirty="0" smtClean="0"/>
              <a:t>()</a:t>
            </a:r>
          </a:p>
          <a:p>
            <a:pPr lvl="1"/>
            <a:r>
              <a:rPr lang="zh-CN" altLang="en-US" dirty="0"/>
              <a:t>分配着色</a:t>
            </a:r>
            <a:r>
              <a:rPr lang="zh-CN" altLang="en-US" dirty="0" smtClean="0"/>
              <a:t>器程序</a:t>
            </a:r>
            <a:r>
              <a:rPr lang="en-US" altLang="zh-CN" dirty="0" smtClean="0"/>
              <a:t>ID</a:t>
            </a:r>
          </a:p>
          <a:p>
            <a:r>
              <a:rPr lang="en-US" altLang="zh-CN" dirty="0" err="1" smtClean="0"/>
              <a:t>glAttachShader</a:t>
            </a:r>
            <a:r>
              <a:rPr lang="en-US" altLang="zh-CN" dirty="0" smtClean="0"/>
              <a:t>()</a:t>
            </a:r>
          </a:p>
          <a:p>
            <a:pPr lvl="1"/>
            <a:r>
              <a:rPr lang="zh-CN" altLang="en-US" dirty="0" smtClean="0"/>
              <a:t>指定程序的着色器</a:t>
            </a:r>
            <a:endParaRPr lang="en-US" altLang="zh-CN" dirty="0" smtClean="0"/>
          </a:p>
          <a:p>
            <a:r>
              <a:rPr lang="en-US" altLang="zh-CN" dirty="0" err="1" smtClean="0"/>
              <a:t>glLinkProgram</a:t>
            </a:r>
            <a:r>
              <a:rPr lang="en-US" altLang="zh-CN" dirty="0" smtClean="0"/>
              <a:t>()</a:t>
            </a:r>
          </a:p>
          <a:p>
            <a:pPr lvl="1"/>
            <a:r>
              <a:rPr lang="zh-CN" altLang="en-US" dirty="0" smtClean="0"/>
              <a:t>链接着色器程序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584" y="1538987"/>
            <a:ext cx="8383480" cy="518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75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代码分析</a:t>
            </a:r>
            <a:r>
              <a:rPr lang="zh-CN" altLang="en-US" dirty="0" smtClean="0"/>
              <a:t>：创建顶点缓存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25337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 err="1" smtClean="0"/>
              <a:t>glGenVertexArrays</a:t>
            </a:r>
            <a:r>
              <a:rPr lang="en-US" altLang="zh-CN" dirty="0" smtClean="0"/>
              <a:t>()</a:t>
            </a:r>
          </a:p>
          <a:p>
            <a:pPr lvl="1"/>
            <a:r>
              <a:rPr lang="zh-CN" altLang="en-US" dirty="0" smtClean="0"/>
              <a:t>生成顶点数组</a:t>
            </a:r>
            <a:r>
              <a:rPr lang="en-US" altLang="zh-CN" dirty="0" smtClean="0"/>
              <a:t>ID</a:t>
            </a:r>
            <a:r>
              <a:rPr lang="zh-CN" altLang="en-US" dirty="0" smtClean="0"/>
              <a:t>，写入传入的地址</a:t>
            </a:r>
            <a:endParaRPr lang="en-US" altLang="zh-CN" dirty="0" smtClean="0"/>
          </a:p>
          <a:p>
            <a:r>
              <a:rPr lang="en-US" altLang="zh-CN" dirty="0" err="1" smtClean="0"/>
              <a:t>glBindVertexArray</a:t>
            </a:r>
            <a:r>
              <a:rPr lang="en-US" altLang="zh-CN" dirty="0" smtClean="0"/>
              <a:t>()</a:t>
            </a:r>
          </a:p>
          <a:p>
            <a:pPr lvl="1"/>
            <a:r>
              <a:rPr lang="zh-CN" altLang="en-US" dirty="0" smtClean="0"/>
              <a:t>绑定当前顶点数组</a:t>
            </a:r>
            <a:r>
              <a:rPr lang="zh-CN" altLang="en-US" dirty="0"/>
              <a:t>（</a:t>
            </a:r>
            <a:r>
              <a:rPr lang="en-US" altLang="zh-CN" dirty="0" smtClean="0"/>
              <a:t>0=</a:t>
            </a:r>
            <a:r>
              <a:rPr lang="zh-CN" altLang="en-US" dirty="0" smtClean="0"/>
              <a:t>默认）</a:t>
            </a:r>
            <a:endParaRPr lang="en-US" altLang="zh-CN" dirty="0" smtClean="0"/>
          </a:p>
          <a:p>
            <a:r>
              <a:rPr lang="en-US" altLang="zh-CN" dirty="0" err="1" smtClean="0"/>
              <a:t>glGenBuffers</a:t>
            </a:r>
            <a:r>
              <a:rPr lang="en-US" altLang="zh-CN" dirty="0" smtClean="0"/>
              <a:t>()</a:t>
            </a:r>
          </a:p>
          <a:p>
            <a:pPr lvl="1"/>
            <a:r>
              <a:rPr lang="zh-CN" altLang="en-US" dirty="0" smtClean="0"/>
              <a:t>生成缓存</a:t>
            </a:r>
            <a:r>
              <a:rPr lang="en-US" altLang="zh-CN" dirty="0" smtClean="0"/>
              <a:t>ID</a:t>
            </a:r>
            <a:r>
              <a:rPr lang="zh-CN" altLang="en-US" dirty="0" smtClean="0"/>
              <a:t>，写入</a:t>
            </a:r>
            <a:r>
              <a:rPr lang="zh-CN" altLang="en-US" dirty="0"/>
              <a:t>传入的</a:t>
            </a:r>
            <a:r>
              <a:rPr lang="zh-CN" altLang="en-US" dirty="0" smtClean="0"/>
              <a:t>地址</a:t>
            </a:r>
            <a:endParaRPr lang="en-US" altLang="zh-CN" dirty="0" smtClean="0"/>
          </a:p>
          <a:p>
            <a:r>
              <a:rPr lang="en-US" altLang="zh-CN" dirty="0" err="1" smtClean="0"/>
              <a:t>glBindBuffer</a:t>
            </a:r>
            <a:r>
              <a:rPr lang="en-US" altLang="zh-CN" dirty="0" smtClean="0"/>
              <a:t>()</a:t>
            </a:r>
          </a:p>
          <a:p>
            <a:pPr lvl="1"/>
            <a:r>
              <a:rPr lang="zh-CN" altLang="en-US" dirty="0" smtClean="0"/>
              <a:t>指定缓存类型并绑定</a:t>
            </a:r>
            <a:r>
              <a:rPr lang="zh-CN" altLang="en-US" dirty="0"/>
              <a:t>（</a:t>
            </a:r>
            <a:r>
              <a:rPr lang="en-US" altLang="zh-CN" dirty="0"/>
              <a:t>0=</a:t>
            </a:r>
            <a:r>
              <a:rPr lang="zh-CN" altLang="en-US" dirty="0"/>
              <a:t>解绑）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900" y="5213930"/>
            <a:ext cx="845820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211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相关概念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VAO; VBO; EBO</a:t>
            </a:r>
          </a:p>
          <a:p>
            <a:pPr lvl="1"/>
            <a:r>
              <a:rPr lang="zh-CN" altLang="en-US" dirty="0" smtClean="0"/>
              <a:t>顶点数组对象</a:t>
            </a:r>
            <a:r>
              <a:rPr lang="en-US" altLang="zh-CN" dirty="0" smtClean="0"/>
              <a:t>(Vertex Array Object, VAO)</a:t>
            </a:r>
            <a:r>
              <a:rPr lang="zh-CN" altLang="en-US" dirty="0" smtClean="0"/>
              <a:t>包含了与顶点数据相关的信息。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它存储了顶点数据的组织形式，同时也包含了实际提供顶点数据的缓存对象。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新创建的</a:t>
            </a:r>
            <a:r>
              <a:rPr lang="en-US" altLang="zh-CN" dirty="0" smtClean="0"/>
              <a:t>VAO</a:t>
            </a:r>
            <a:r>
              <a:rPr lang="zh-CN" altLang="en-US" dirty="0" smtClean="0"/>
              <a:t>中，所有属性都是禁用的，需要使用</a:t>
            </a:r>
            <a:r>
              <a:rPr lang="en-US" altLang="zh-CN" dirty="0" err="1" smtClean="0"/>
              <a:t>glEnableVertexAttribArray</a:t>
            </a:r>
            <a:r>
              <a:rPr lang="en-US" altLang="zh-CN" dirty="0" smtClean="0"/>
              <a:t>()</a:t>
            </a:r>
            <a:r>
              <a:rPr lang="zh-CN" altLang="en-US" dirty="0" smtClean="0"/>
              <a:t>启用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缓存对象</a:t>
            </a:r>
            <a:r>
              <a:rPr lang="en-US" altLang="zh-CN" dirty="0" smtClean="0"/>
              <a:t>(Buffer Object)</a:t>
            </a:r>
            <a:r>
              <a:rPr lang="zh-CN" altLang="en-US" dirty="0" smtClean="0"/>
              <a:t>在显存中开辟一块区域，存储用户传入的数据。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数据的使用方式由</a:t>
            </a:r>
            <a:r>
              <a:rPr lang="en-US" altLang="zh-CN" dirty="0" err="1" smtClean="0"/>
              <a:t>glBindBuffer</a:t>
            </a:r>
            <a:r>
              <a:rPr lang="en-US" altLang="zh-CN" dirty="0" smtClean="0"/>
              <a:t>()</a:t>
            </a:r>
            <a:r>
              <a:rPr lang="zh-CN" altLang="en-US" dirty="0" smtClean="0"/>
              <a:t>临时指定；</a:t>
            </a:r>
            <a:r>
              <a:rPr lang="en-US" altLang="zh-CN" dirty="0" smtClean="0"/>
              <a:t>GL_ARRAY_BUFFER</a:t>
            </a:r>
            <a:r>
              <a:rPr lang="zh-CN" altLang="en-US" dirty="0" smtClean="0"/>
              <a:t>指定顶点缓存对象</a:t>
            </a:r>
            <a:endParaRPr lang="en-US" altLang="zh-CN" dirty="0" smtClean="0"/>
          </a:p>
          <a:p>
            <a:pPr lvl="2"/>
            <a:r>
              <a:rPr lang="zh-CN" altLang="en-US" dirty="0"/>
              <a:t>顶点缓存</a:t>
            </a:r>
            <a:r>
              <a:rPr lang="zh-CN" altLang="en-US" dirty="0" smtClean="0"/>
              <a:t>对象</a:t>
            </a:r>
            <a:r>
              <a:rPr lang="en-US" altLang="zh-CN" dirty="0" smtClean="0"/>
              <a:t>(Vertex Buffer Object, VBO)</a:t>
            </a:r>
            <a:r>
              <a:rPr lang="zh-CN" altLang="en-US" dirty="0" smtClean="0"/>
              <a:t>在调用</a:t>
            </a:r>
            <a:r>
              <a:rPr lang="en-US" altLang="zh-CN" dirty="0" err="1" smtClean="0"/>
              <a:t>glVertexAttrib</a:t>
            </a:r>
            <a:r>
              <a:rPr lang="zh-CN" altLang="en-US" dirty="0" smtClean="0"/>
              <a:t>*</a:t>
            </a:r>
            <a:r>
              <a:rPr lang="en-US" altLang="zh-CN" dirty="0" smtClean="0"/>
              <a:t>Pointer()</a:t>
            </a:r>
            <a:r>
              <a:rPr lang="zh-CN" altLang="en-US" dirty="0" smtClean="0"/>
              <a:t>时被当前绑定的</a:t>
            </a:r>
            <a:r>
              <a:rPr lang="en-US" altLang="zh-CN" dirty="0" smtClean="0"/>
              <a:t>VAO</a:t>
            </a:r>
            <a:r>
              <a:rPr lang="zh-CN" altLang="en-US" dirty="0" smtClean="0"/>
              <a:t>存储引用。之后解绑</a:t>
            </a:r>
            <a:r>
              <a:rPr lang="en-US" altLang="zh-CN" dirty="0" smtClean="0"/>
              <a:t>VBO</a:t>
            </a:r>
            <a:r>
              <a:rPr lang="zh-CN" altLang="en-US" dirty="0" smtClean="0"/>
              <a:t>不会改变</a:t>
            </a:r>
            <a:r>
              <a:rPr lang="en-US" altLang="zh-CN" dirty="0" smtClean="0"/>
              <a:t>VAO</a:t>
            </a:r>
            <a:r>
              <a:rPr lang="zh-CN" altLang="en-US" dirty="0" smtClean="0"/>
              <a:t>传入</a:t>
            </a:r>
            <a:r>
              <a:rPr lang="zh-CN" altLang="en-US" dirty="0"/>
              <a:t>着色器</a:t>
            </a:r>
            <a:r>
              <a:rPr lang="zh-CN" altLang="en-US" dirty="0" smtClean="0"/>
              <a:t>的数据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索引缓存对象</a:t>
            </a:r>
            <a:r>
              <a:rPr lang="en-US" altLang="zh-CN" dirty="0" smtClean="0"/>
              <a:t>(Element Buffer Object, EBO)</a:t>
            </a:r>
            <a:r>
              <a:rPr lang="zh-CN" altLang="en-US" dirty="0" smtClean="0"/>
              <a:t>存储顶点索引。若没有索引，绘制时使用</a:t>
            </a:r>
            <a:r>
              <a:rPr lang="en-US" altLang="zh-CN" dirty="0" err="1" smtClean="0"/>
              <a:t>glDrawArrays</a:t>
            </a:r>
            <a:r>
              <a:rPr lang="en-US" altLang="zh-CN" dirty="0" smtClean="0"/>
              <a:t>()</a:t>
            </a:r>
            <a:r>
              <a:rPr lang="zh-CN" altLang="en-US" dirty="0" smtClean="0"/>
              <a:t>将会依次传入</a:t>
            </a:r>
            <a:r>
              <a:rPr lang="en-US" altLang="zh-CN" dirty="0" smtClean="0"/>
              <a:t>VBO</a:t>
            </a:r>
            <a:r>
              <a:rPr lang="zh-CN" altLang="en-US" dirty="0" smtClean="0"/>
              <a:t>中的所有顶点；使用索引和</a:t>
            </a:r>
            <a:r>
              <a:rPr lang="en-US" altLang="zh-CN" dirty="0" err="1" smtClean="0"/>
              <a:t>glDrawElements</a:t>
            </a:r>
            <a:r>
              <a:rPr lang="en-US" altLang="zh-CN" dirty="0" smtClean="0"/>
              <a:t>*()</a:t>
            </a:r>
            <a:r>
              <a:rPr lang="zh-CN" altLang="en-US" dirty="0" smtClean="0"/>
              <a:t>可以改变传入顶点的顺序和数量。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还有其他的缓存对象如</a:t>
            </a:r>
            <a:r>
              <a:rPr lang="en-US" altLang="zh-CN" dirty="0" smtClean="0"/>
              <a:t>Transform Feedback Buffer</a:t>
            </a:r>
            <a:r>
              <a:rPr lang="zh-CN" altLang="en-US" dirty="0" smtClean="0"/>
              <a:t>，在一些绘制算法中起作用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2571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代码分析</a:t>
            </a:r>
            <a:r>
              <a:rPr lang="zh-CN" altLang="en-US" dirty="0" smtClean="0"/>
              <a:t>：指定顶点数据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29909"/>
          </a:xfrm>
        </p:spPr>
        <p:txBody>
          <a:bodyPr>
            <a:normAutofit/>
          </a:bodyPr>
          <a:lstStyle/>
          <a:p>
            <a:r>
              <a:rPr lang="en-US" altLang="zh-CN" dirty="0" err="1" smtClean="0"/>
              <a:t>glBufferData</a:t>
            </a:r>
            <a:r>
              <a:rPr lang="en-US" altLang="zh-CN" dirty="0" smtClean="0"/>
              <a:t>()</a:t>
            </a:r>
          </a:p>
          <a:p>
            <a:pPr lvl="1"/>
            <a:r>
              <a:rPr lang="zh-CN" altLang="en-US" dirty="0" smtClean="0"/>
              <a:t>向缓存中传入数据</a:t>
            </a:r>
            <a:endParaRPr lang="en-US" altLang="zh-CN" dirty="0" smtClean="0"/>
          </a:p>
          <a:p>
            <a:r>
              <a:rPr lang="en-US" altLang="zh-CN" dirty="0" err="1" smtClean="0"/>
              <a:t>glGet</a:t>
            </a:r>
            <a:r>
              <a:rPr lang="en-US" altLang="zh-CN" dirty="0" smtClean="0"/>
              <a:t>*Location()</a:t>
            </a:r>
          </a:p>
          <a:p>
            <a:pPr lvl="1"/>
            <a:r>
              <a:rPr lang="zh-CN" altLang="en-US" dirty="0" smtClean="0"/>
              <a:t>获取着色器中变量的地址</a:t>
            </a:r>
            <a:endParaRPr lang="en-US" altLang="zh-CN" dirty="0"/>
          </a:p>
          <a:p>
            <a:r>
              <a:rPr lang="en-US" altLang="zh-CN" dirty="0" err="1" smtClean="0"/>
              <a:t>glEnableVertexAttribArray</a:t>
            </a:r>
            <a:r>
              <a:rPr lang="en-US" altLang="zh-CN" dirty="0" smtClean="0"/>
              <a:t>()</a:t>
            </a:r>
          </a:p>
          <a:p>
            <a:pPr lvl="1"/>
            <a:r>
              <a:rPr lang="zh-CN" altLang="en-US" dirty="0" smtClean="0"/>
              <a:t>激活此地址作为顶点属性</a:t>
            </a:r>
            <a:endParaRPr lang="en-US" altLang="zh-CN" dirty="0" smtClean="0"/>
          </a:p>
          <a:p>
            <a:r>
              <a:rPr lang="en-US" altLang="zh-CN" dirty="0" err="1" smtClean="0"/>
              <a:t>glVertexAttrib</a:t>
            </a:r>
            <a:r>
              <a:rPr lang="zh-CN" altLang="en-US" dirty="0" smtClean="0"/>
              <a:t>*</a:t>
            </a:r>
            <a:r>
              <a:rPr lang="en-US" altLang="zh-CN" dirty="0" smtClean="0"/>
              <a:t>Pointer()</a:t>
            </a:r>
          </a:p>
          <a:p>
            <a:pPr lvl="1"/>
            <a:r>
              <a:rPr lang="zh-CN" altLang="en-US" dirty="0" smtClean="0"/>
              <a:t>指定顶点属性的维度、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类型、步长和指针偏移量</a:t>
            </a:r>
            <a:endParaRPr lang="en-US" altLang="zh-CN" dirty="0" smtClean="0"/>
          </a:p>
          <a:p>
            <a:pPr lvl="1"/>
            <a:r>
              <a:rPr lang="zh-CN" altLang="en-US" dirty="0"/>
              <a:t>此</a:t>
            </a:r>
            <a:r>
              <a:rPr lang="zh-CN" altLang="en-US" dirty="0" smtClean="0"/>
              <a:t>函数将确定</a:t>
            </a:r>
            <a:r>
              <a:rPr lang="en-US" altLang="zh-CN" dirty="0" smtClean="0"/>
              <a:t>VAO</a:t>
            </a:r>
            <a:r>
              <a:rPr lang="zh-CN" altLang="en-US" dirty="0" smtClean="0"/>
              <a:t>中引用的缓存对象</a:t>
            </a:r>
            <a:endParaRPr lang="en-US" altLang="zh-CN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718" y="2149270"/>
            <a:ext cx="9858375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456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代码分析</a:t>
            </a:r>
            <a:r>
              <a:rPr lang="zh-CN" altLang="en-US" dirty="0" smtClean="0"/>
              <a:t>：</a:t>
            </a:r>
            <a:r>
              <a:rPr lang="zh-CN" altLang="en-US" dirty="0"/>
              <a:t>主循环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55" y="1554876"/>
            <a:ext cx="10345490" cy="5176920"/>
          </a:xfrm>
          <a:prstGeom prst="rect">
            <a:avLst/>
          </a:prstGeom>
        </p:spPr>
      </p:pic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152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相关概念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窗口与</a:t>
            </a:r>
            <a:r>
              <a:rPr lang="zh-CN" altLang="en-US" dirty="0" smtClean="0"/>
              <a:t>视口</a:t>
            </a:r>
            <a:r>
              <a:rPr lang="en-US" altLang="zh-CN" dirty="0" smtClean="0"/>
              <a:t>(Viewport)</a:t>
            </a:r>
          </a:p>
          <a:p>
            <a:pPr lvl="1"/>
            <a:r>
              <a:rPr lang="zh-CN" altLang="en-US" dirty="0"/>
              <a:t>一</a:t>
            </a:r>
            <a:r>
              <a:rPr lang="zh-CN" altLang="en-US" dirty="0" smtClean="0"/>
              <a:t>个窗口可以有多个视口，各自占用不同的窗口区域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使用</a:t>
            </a:r>
            <a:r>
              <a:rPr lang="en-US" altLang="zh-CN" dirty="0" err="1" smtClean="0"/>
              <a:t>glViewport</a:t>
            </a:r>
            <a:r>
              <a:rPr lang="en-US" altLang="zh-CN" dirty="0" smtClean="0"/>
              <a:t>()</a:t>
            </a:r>
            <a:r>
              <a:rPr lang="zh-CN" altLang="en-US" dirty="0" smtClean="0"/>
              <a:t>设定当前</a:t>
            </a:r>
            <a:r>
              <a:rPr lang="en-US" altLang="zh-CN" dirty="0" smtClean="0"/>
              <a:t>OpenGL</a:t>
            </a:r>
            <a:r>
              <a:rPr lang="zh-CN" altLang="en-US" dirty="0" smtClean="0"/>
              <a:t>输出视口；示例中视口大小</a:t>
            </a:r>
            <a:r>
              <a:rPr lang="en-US" altLang="zh-CN" dirty="0" smtClean="0"/>
              <a:t>=</a:t>
            </a:r>
            <a:r>
              <a:rPr lang="zh-CN" altLang="en-US" dirty="0" smtClean="0"/>
              <a:t>窗口大小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904" y="3175995"/>
            <a:ext cx="5058192" cy="355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75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相关概念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坐标系：模型，世界，相机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原始坐标是模型坐标系下的数据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模型在虚拟世界中有旋转、平移、缩放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 smtClean="0"/>
              <a:t>需要将每个顶点原始坐标转换为世界坐标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虚拟世界最终投影到虚拟相机中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需要将每个顶点世界坐标转换为视坐标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坐标系转换</a:t>
            </a:r>
            <a:r>
              <a:rPr lang="en-US" altLang="zh-CN" dirty="0" smtClean="0"/>
              <a:t>=</a:t>
            </a:r>
            <a:r>
              <a:rPr lang="zh-CN" altLang="en-US" dirty="0" smtClean="0"/>
              <a:t>变基</a:t>
            </a:r>
            <a:r>
              <a:rPr lang="en-US" altLang="zh-CN" dirty="0" smtClean="0"/>
              <a:t>=</a:t>
            </a:r>
            <a:r>
              <a:rPr lang="zh-CN" altLang="en-US" dirty="0" smtClean="0"/>
              <a:t>坐标向量乘相应维的矩阵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引入平移：增加一维（</a:t>
            </a:r>
            <a:r>
              <a:rPr lang="en-US" altLang="zh-CN" dirty="0" smtClean="0"/>
              <a:t>4x4</a:t>
            </a:r>
            <a:r>
              <a:rPr lang="zh-CN" altLang="en-US" dirty="0" smtClean="0"/>
              <a:t>矩阵），向量</a:t>
            </a:r>
            <a:r>
              <a:rPr lang="en-US" altLang="zh-CN" dirty="0" smtClean="0"/>
              <a:t>(x, y, z, 0)</a:t>
            </a:r>
            <a:r>
              <a:rPr lang="zh-CN" altLang="en-US" dirty="0" smtClean="0"/>
              <a:t>，点</a:t>
            </a:r>
            <a:r>
              <a:rPr lang="en-US" altLang="zh-CN" dirty="0" smtClean="0"/>
              <a:t>(x, y, z, 1)</a:t>
            </a:r>
          </a:p>
          <a:p>
            <a:pPr lvl="1"/>
            <a:r>
              <a:rPr lang="zh-CN" altLang="en-US" dirty="0" smtClean="0"/>
              <a:t>直线变换后仍为直线：仿射变换的特点</a:t>
            </a:r>
            <a:endParaRPr lang="en-US" altLang="zh-CN" dirty="0" smtClean="0"/>
          </a:p>
          <a:p>
            <a:r>
              <a:rPr lang="zh-CN" altLang="en-US" dirty="0" smtClean="0"/>
              <a:t>投影：今后的课会加以说明，示例中使用默认平行投影（不作变化）</a:t>
            </a:r>
            <a:endParaRPr lang="en-US" altLang="zh-CN" dirty="0" smtClean="0"/>
          </a:p>
          <a:p>
            <a:r>
              <a:rPr lang="zh-CN" altLang="en-US" dirty="0"/>
              <a:t>示例</a:t>
            </a:r>
            <a:r>
              <a:rPr lang="zh-CN" altLang="en-US" dirty="0" smtClean="0"/>
              <a:t>中使用</a:t>
            </a:r>
            <a:r>
              <a:rPr lang="en-US" altLang="zh-CN" dirty="0" err="1" smtClean="0"/>
              <a:t>model_view_projection</a:t>
            </a:r>
            <a:r>
              <a:rPr lang="zh-CN" altLang="en-US" dirty="0" smtClean="0"/>
              <a:t>矩阵表示所有变换矩阵的乘积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每帧旋转角度为</a:t>
            </a:r>
            <a:r>
              <a:rPr lang="en-US" altLang="zh-CN" dirty="0" smtClean="0"/>
              <a:t>π/60.0</a:t>
            </a:r>
            <a:r>
              <a:rPr lang="zh-CN" altLang="en-US" dirty="0" smtClean="0"/>
              <a:t>，在</a:t>
            </a:r>
            <a:r>
              <a:rPr lang="en-US" altLang="zh-CN" dirty="0" smtClean="0"/>
              <a:t>60Hz</a:t>
            </a:r>
            <a:r>
              <a:rPr lang="zh-CN" altLang="en-US" dirty="0" smtClean="0"/>
              <a:t>刷新率且打开</a:t>
            </a:r>
            <a:r>
              <a:rPr lang="en-US" altLang="zh-CN" dirty="0" smtClean="0"/>
              <a:t>V-Sync</a:t>
            </a:r>
            <a:r>
              <a:rPr lang="zh-CN" altLang="en-US" dirty="0" smtClean="0"/>
              <a:t>的情况下一秒旋转半圈</a:t>
            </a:r>
            <a:endParaRPr lang="en-US" altLang="zh-CN" dirty="0" smtClean="0"/>
          </a:p>
        </p:txBody>
      </p:sp>
      <p:grpSp>
        <p:nvGrpSpPr>
          <p:cNvPr id="23" name="画布 1"/>
          <p:cNvGrpSpPr/>
          <p:nvPr/>
        </p:nvGrpSpPr>
        <p:grpSpPr>
          <a:xfrm>
            <a:off x="6531215" y="924719"/>
            <a:ext cx="5184140" cy="3076575"/>
            <a:chOff x="0" y="0"/>
            <a:chExt cx="5184140" cy="3076575"/>
          </a:xfrm>
        </p:grpSpPr>
        <p:sp>
          <p:nvSpPr>
            <p:cNvPr id="24" name="矩形 23"/>
            <p:cNvSpPr/>
            <p:nvPr/>
          </p:nvSpPr>
          <p:spPr>
            <a:xfrm>
              <a:off x="0" y="0"/>
              <a:ext cx="5184140" cy="3076575"/>
            </a:xfrm>
            <a:prstGeom prst="rect">
              <a:avLst/>
            </a:prstGeom>
          </p:spPr>
        </p:sp>
        <p:sp>
          <p:nvSpPr>
            <p:cNvPr id="25" name="流程图: 过程 24"/>
            <p:cNvSpPr/>
            <p:nvPr/>
          </p:nvSpPr>
          <p:spPr>
            <a:xfrm rot="2183748">
              <a:off x="479783" y="473140"/>
              <a:ext cx="310703" cy="520489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6" name="立方体 25"/>
            <p:cNvSpPr/>
            <p:nvPr/>
          </p:nvSpPr>
          <p:spPr>
            <a:xfrm rot="19495318">
              <a:off x="3637059" y="928374"/>
              <a:ext cx="1058460" cy="105846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cxnSp>
          <p:nvCxnSpPr>
            <p:cNvPr id="27" name="直接箭头连接符 26"/>
            <p:cNvCxnSpPr/>
            <p:nvPr/>
          </p:nvCxnSpPr>
          <p:spPr>
            <a:xfrm flipH="1" flipV="1">
              <a:off x="3477889" y="549697"/>
              <a:ext cx="665979" cy="10095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>
            <a:xfrm flipH="1">
              <a:off x="3234754" y="1569808"/>
              <a:ext cx="914400" cy="6554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/>
          </p:nvCxnSpPr>
          <p:spPr>
            <a:xfrm flipH="1">
              <a:off x="3916590" y="1575094"/>
              <a:ext cx="227279" cy="10782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/>
            <p:nvPr/>
          </p:nvCxnSpPr>
          <p:spPr>
            <a:xfrm flipV="1">
              <a:off x="2209357" y="1162822"/>
              <a:ext cx="1" cy="12421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/>
          </p:nvCxnSpPr>
          <p:spPr>
            <a:xfrm>
              <a:off x="2209357" y="2399639"/>
              <a:ext cx="112582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/>
            <p:nvPr/>
          </p:nvCxnSpPr>
          <p:spPr>
            <a:xfrm flipH="1">
              <a:off x="1490524" y="2404925"/>
              <a:ext cx="718834" cy="5496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流程图: 磁盘 32"/>
            <p:cNvSpPr/>
            <p:nvPr/>
          </p:nvSpPr>
          <p:spPr>
            <a:xfrm rot="2068606">
              <a:off x="1282424" y="1867381"/>
              <a:ext cx="405238" cy="361575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4" name="流程图: 直接访问存储器 33"/>
            <p:cNvSpPr/>
            <p:nvPr/>
          </p:nvSpPr>
          <p:spPr>
            <a:xfrm rot="4387131">
              <a:off x="2744565" y="1840714"/>
              <a:ext cx="182228" cy="154498"/>
            </a:xfrm>
            <a:prstGeom prst="flowChartMagneticDrum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5" name="立方体 34"/>
            <p:cNvSpPr/>
            <p:nvPr/>
          </p:nvSpPr>
          <p:spPr>
            <a:xfrm rot="1734821">
              <a:off x="1834084" y="687121"/>
              <a:ext cx="280134" cy="264277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cxnSp>
          <p:nvCxnSpPr>
            <p:cNvPr id="36" name="直接连接符 35"/>
            <p:cNvCxnSpPr/>
            <p:nvPr/>
          </p:nvCxnSpPr>
          <p:spPr>
            <a:xfrm>
              <a:off x="819258" y="866828"/>
              <a:ext cx="692407" cy="8985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 flipV="1">
              <a:off x="829829" y="866829"/>
              <a:ext cx="327704" cy="6184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流程图: 过程 37"/>
            <p:cNvSpPr/>
            <p:nvPr/>
          </p:nvSpPr>
          <p:spPr>
            <a:xfrm rot="2183056">
              <a:off x="697690" y="697691"/>
              <a:ext cx="158566" cy="258992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cxnSp>
          <p:nvCxnSpPr>
            <p:cNvPr id="39" name="直接箭头连接符 38"/>
            <p:cNvCxnSpPr/>
            <p:nvPr/>
          </p:nvCxnSpPr>
          <p:spPr>
            <a:xfrm flipV="1">
              <a:off x="655406" y="153281"/>
              <a:ext cx="380559" cy="5761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/>
            <p:nvPr/>
          </p:nvCxnSpPr>
          <p:spPr>
            <a:xfrm>
              <a:off x="655406" y="739977"/>
              <a:ext cx="671265" cy="4756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/>
          </p:nvCxnSpPr>
          <p:spPr>
            <a:xfrm flipH="1">
              <a:off x="264275" y="729406"/>
              <a:ext cx="391131" cy="2642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文本框 22"/>
            <p:cNvSpPr txBox="1"/>
            <p:nvPr/>
          </p:nvSpPr>
          <p:spPr>
            <a:xfrm>
              <a:off x="3661346" y="237850"/>
              <a:ext cx="493096" cy="301276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1050" kern="10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模型</a:t>
              </a:r>
            </a:p>
          </p:txBody>
        </p:sp>
        <p:sp>
          <p:nvSpPr>
            <p:cNvPr id="43" name="文本框 22"/>
            <p:cNvSpPr txBox="1"/>
            <p:nvPr/>
          </p:nvSpPr>
          <p:spPr>
            <a:xfrm>
              <a:off x="2426358" y="1284680"/>
              <a:ext cx="492760" cy="30099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1050">
                  <a:effectLst/>
                  <a:latin typeface="宋体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世界</a:t>
              </a:r>
              <a:endParaRPr lang="zh-CN" sz="12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4" name="文本框 22"/>
            <p:cNvSpPr txBox="1"/>
            <p:nvPr/>
          </p:nvSpPr>
          <p:spPr>
            <a:xfrm>
              <a:off x="1078543" y="349138"/>
              <a:ext cx="492760" cy="30099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1050">
                  <a:effectLst/>
                  <a:latin typeface="宋体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相机</a:t>
              </a:r>
              <a:endParaRPr lang="zh-CN" sz="12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2452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相关概念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4872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帧缓存</a:t>
            </a:r>
            <a:r>
              <a:rPr lang="en-US" altLang="zh-CN" dirty="0" smtClean="0"/>
              <a:t>(Framebuffer)</a:t>
            </a:r>
          </a:p>
          <a:p>
            <a:pPr lvl="1"/>
            <a:r>
              <a:rPr lang="zh-CN" altLang="en-US" dirty="0" smtClean="0"/>
              <a:t>包括颜色缓存、深度缓存、累积缓存、模板缓存等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一般情况下，颜色缓存和深度缓存需要在每帧绘制前清空</a:t>
            </a:r>
            <a:endParaRPr lang="en-US" altLang="zh-CN" dirty="0" smtClean="0"/>
          </a:p>
          <a:p>
            <a:r>
              <a:rPr lang="zh-CN" altLang="en-US" dirty="0" smtClean="0"/>
              <a:t>双缓存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使用</a:t>
            </a:r>
            <a:r>
              <a:rPr lang="zh-CN" altLang="en-US" dirty="0"/>
              <a:t>前后</a:t>
            </a:r>
            <a:r>
              <a:rPr lang="zh-CN" altLang="en-US" dirty="0" smtClean="0"/>
              <a:t>两个帧缓存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绘制时，图像先绘制到后端缓存，待绘制完成后由应用程序切换</a:t>
            </a:r>
            <a:endParaRPr lang="en-US" altLang="zh-CN" dirty="0"/>
          </a:p>
          <a:p>
            <a:pPr lvl="1"/>
            <a:r>
              <a:rPr lang="zh-CN" altLang="en-US" dirty="0"/>
              <a:t>可</a:t>
            </a:r>
            <a:r>
              <a:rPr lang="zh-CN" altLang="en-US" dirty="0" smtClean="0"/>
              <a:t>防止未绘制完就被显示到屏幕上产生的撕裂、面片丢失等问题</a:t>
            </a:r>
            <a:endParaRPr lang="en-US" altLang="zh-CN" dirty="0" smtClean="0"/>
          </a:p>
          <a:p>
            <a:r>
              <a:rPr lang="zh-CN" altLang="en-US" dirty="0" smtClean="0"/>
              <a:t>帧缓存对象</a:t>
            </a:r>
            <a:r>
              <a:rPr lang="en-US" altLang="zh-CN" dirty="0" smtClean="0"/>
              <a:t>(Framebuffer Object, FBO)</a:t>
            </a:r>
          </a:p>
          <a:p>
            <a:pPr lvl="1"/>
            <a:r>
              <a:rPr lang="zh-CN" altLang="en-US" dirty="0" smtClean="0"/>
              <a:t>由用户指定的帧缓存，可以在执行相关算法（如渲染到纹理）时不改变屏幕内容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5972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代码分析：绘制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glUseProgram</a:t>
            </a:r>
            <a:r>
              <a:rPr lang="en-US" altLang="zh-CN" dirty="0" smtClean="0"/>
              <a:t>()</a:t>
            </a:r>
          </a:p>
          <a:p>
            <a:pPr lvl="1"/>
            <a:r>
              <a:rPr lang="zh-CN" altLang="en-US" dirty="0" smtClean="0"/>
              <a:t>指定当前着色器程序</a:t>
            </a:r>
            <a:endParaRPr lang="en-US" altLang="zh-CN" dirty="0" smtClean="0"/>
          </a:p>
          <a:p>
            <a:r>
              <a:rPr lang="en-US" altLang="zh-CN" dirty="0" err="1" smtClean="0"/>
              <a:t>glBindVertexArray</a:t>
            </a:r>
            <a:r>
              <a:rPr lang="en-US" altLang="zh-CN" dirty="0" smtClean="0"/>
              <a:t>()</a:t>
            </a:r>
          </a:p>
          <a:p>
            <a:pPr lvl="1"/>
            <a:r>
              <a:rPr lang="zh-CN" altLang="en-US" dirty="0" smtClean="0"/>
              <a:t>指定当前顶点数组</a:t>
            </a:r>
            <a:endParaRPr lang="en-US" altLang="zh-CN" dirty="0" smtClean="0"/>
          </a:p>
          <a:p>
            <a:r>
              <a:rPr lang="en-US" altLang="zh-CN" dirty="0" err="1" smtClean="0"/>
              <a:t>glUniformMatrix</a:t>
            </a:r>
            <a:r>
              <a:rPr lang="en-US" altLang="zh-CN" dirty="0" smtClean="0"/>
              <a:t>*()</a:t>
            </a:r>
          </a:p>
          <a:p>
            <a:pPr lvl="1"/>
            <a:r>
              <a:rPr lang="zh-CN" altLang="en-US" dirty="0" smtClean="0"/>
              <a:t>传入变换矩阵</a:t>
            </a:r>
            <a:endParaRPr lang="en-US" altLang="zh-CN" dirty="0" smtClean="0"/>
          </a:p>
          <a:p>
            <a:r>
              <a:rPr lang="en-US" altLang="zh-CN" dirty="0" err="1" smtClean="0"/>
              <a:t>glDrawArrays</a:t>
            </a:r>
            <a:r>
              <a:rPr lang="en-US" altLang="zh-CN" dirty="0" smtClean="0"/>
              <a:t>()</a:t>
            </a:r>
          </a:p>
          <a:p>
            <a:pPr lvl="1"/>
            <a:r>
              <a:rPr lang="zh-CN" altLang="en-US" dirty="0" smtClean="0"/>
              <a:t>发出绘制指令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957" y="2441261"/>
            <a:ext cx="110871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9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绘制流程总结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637" y="214185"/>
            <a:ext cx="8827363" cy="653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780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OpenGL</a:t>
            </a:r>
            <a:r>
              <a:rPr lang="zh-CN" altLang="en-US" dirty="0" smtClean="0"/>
              <a:t>作为状态机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在调用多数</a:t>
            </a:r>
            <a:r>
              <a:rPr lang="en-US" altLang="zh-CN" dirty="0" err="1" smtClean="0"/>
              <a:t>gl</a:t>
            </a:r>
            <a:r>
              <a:rPr lang="zh-CN" altLang="en-US" dirty="0" smtClean="0"/>
              <a:t>开头的函数后，会改变系统的状态</a:t>
            </a:r>
            <a:endParaRPr lang="en-US" altLang="zh-CN" dirty="0" smtClean="0"/>
          </a:p>
          <a:p>
            <a:pPr lvl="1"/>
            <a:r>
              <a:rPr lang="zh-CN" altLang="en-US" dirty="0"/>
              <a:t>绘制结果的正确与否与</a:t>
            </a:r>
            <a:r>
              <a:rPr lang="zh-CN" altLang="en-US" b="1" dirty="0"/>
              <a:t>语句调用顺序</a:t>
            </a:r>
            <a:r>
              <a:rPr lang="zh-CN" altLang="en-US" b="1" dirty="0">
                <a:solidFill>
                  <a:srgbClr val="FF0000"/>
                </a:solidFill>
              </a:rPr>
              <a:t>强</a:t>
            </a:r>
            <a:r>
              <a:rPr lang="zh-CN" altLang="en-US" b="1" dirty="0" smtClean="0">
                <a:solidFill>
                  <a:srgbClr val="FF0000"/>
                </a:solidFill>
              </a:rPr>
              <a:t>相关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dirty="0" smtClean="0"/>
              <a:t>这点与面向对象编程的习惯不一样，一定要注意！</a:t>
            </a:r>
            <a:endParaRPr lang="en-US" altLang="zh-CN" dirty="0" smtClean="0"/>
          </a:p>
          <a:p>
            <a:r>
              <a:rPr lang="zh-CN" altLang="en-US" dirty="0" smtClean="0"/>
              <a:t>举例：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glBind</a:t>
            </a:r>
            <a:r>
              <a:rPr lang="en-US" altLang="zh-CN" dirty="0" smtClean="0"/>
              <a:t>*()</a:t>
            </a:r>
            <a:r>
              <a:rPr lang="zh-CN" altLang="en-US" dirty="0" smtClean="0"/>
              <a:t>改变当前绑定的对象（贴图，</a:t>
            </a:r>
            <a:r>
              <a:rPr lang="en-US" altLang="zh-CN" dirty="0" smtClean="0"/>
              <a:t>VAO</a:t>
            </a:r>
            <a:r>
              <a:rPr lang="zh-CN" altLang="en-US" dirty="0" smtClean="0"/>
              <a:t>，缓存等）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glEnable</a:t>
            </a:r>
            <a:r>
              <a:rPr lang="en-US" altLang="zh-CN" dirty="0" smtClean="0"/>
              <a:t>()/</a:t>
            </a:r>
            <a:r>
              <a:rPr lang="en-US" altLang="zh-CN" dirty="0" err="1" smtClean="0"/>
              <a:t>glDisable</a:t>
            </a:r>
            <a:r>
              <a:rPr lang="en-US" altLang="zh-CN" dirty="0" smtClean="0"/>
              <a:t>()</a:t>
            </a:r>
            <a:r>
              <a:rPr lang="zh-CN" altLang="en-US" dirty="0" smtClean="0"/>
              <a:t>改变一些绘制功能的开启</a:t>
            </a:r>
            <a:r>
              <a:rPr lang="en-US" altLang="zh-CN" dirty="0" smtClean="0"/>
              <a:t>/</a:t>
            </a:r>
            <a:r>
              <a:rPr lang="zh-CN" altLang="en-US" dirty="0" smtClean="0"/>
              <a:t>关闭状态（深度测试等）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glUseProgram</a:t>
            </a:r>
            <a:r>
              <a:rPr lang="en-US" altLang="zh-CN" dirty="0" smtClean="0"/>
              <a:t>()</a:t>
            </a:r>
            <a:r>
              <a:rPr lang="zh-CN" altLang="en-US" dirty="0" smtClean="0"/>
              <a:t>改变当前使用的着色器程序</a:t>
            </a:r>
            <a:endParaRPr lang="en-US" altLang="zh-CN" dirty="0" smtClean="0"/>
          </a:p>
          <a:p>
            <a:r>
              <a:rPr lang="zh-CN" altLang="en-US" dirty="0" smtClean="0"/>
              <a:t>对于多线程的支持不好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有一些</a:t>
            </a:r>
            <a:r>
              <a:rPr lang="en-US" altLang="zh-CN" dirty="0" err="1" smtClean="0"/>
              <a:t>gl</a:t>
            </a:r>
            <a:r>
              <a:rPr lang="zh-CN" altLang="en-US" dirty="0" smtClean="0"/>
              <a:t>开头的函数是异步的。原因包括与</a:t>
            </a:r>
            <a:r>
              <a:rPr lang="en-US" altLang="zh-CN" dirty="0" smtClean="0"/>
              <a:t>GPU</a:t>
            </a:r>
            <a:r>
              <a:rPr lang="zh-CN" altLang="en-US" dirty="0" smtClean="0"/>
              <a:t>通信等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强烈建议只在一个线程内写</a:t>
            </a:r>
            <a:r>
              <a:rPr lang="en-US" altLang="zh-CN" dirty="0" smtClean="0"/>
              <a:t>OpenGL</a:t>
            </a:r>
            <a:r>
              <a:rPr lang="zh-CN" altLang="en-US" dirty="0" smtClean="0"/>
              <a:t>，其它线程不要调用任何</a:t>
            </a:r>
            <a:r>
              <a:rPr lang="en-US" altLang="zh-CN" dirty="0" err="1" smtClean="0"/>
              <a:t>gl</a:t>
            </a:r>
            <a:r>
              <a:rPr lang="zh-CN" altLang="en-US" dirty="0" smtClean="0"/>
              <a:t>开头函数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5217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可编程着色器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使用可编程着色器时，</a:t>
            </a:r>
            <a:r>
              <a:rPr lang="en-US" altLang="zh-CN" dirty="0" smtClean="0"/>
              <a:t>Vertex </a:t>
            </a:r>
            <a:r>
              <a:rPr lang="en-US" altLang="zh-CN" dirty="0" err="1" smtClean="0"/>
              <a:t>Shader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和</a:t>
            </a:r>
            <a:r>
              <a:rPr lang="en-US" altLang="zh-CN" dirty="0" smtClean="0"/>
              <a:t>Fragment </a:t>
            </a:r>
            <a:r>
              <a:rPr lang="en-US" altLang="zh-CN" dirty="0" err="1" smtClean="0"/>
              <a:t>Shader</a:t>
            </a:r>
            <a:r>
              <a:rPr lang="zh-CN" altLang="en-US" dirty="0" smtClean="0"/>
              <a:t>是必需的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它们可以完成：</a:t>
            </a:r>
            <a:r>
              <a:rPr lang="zh-CN" altLang="en-US" dirty="0"/>
              <a:t>简单</a:t>
            </a:r>
            <a:r>
              <a:rPr lang="zh-CN" altLang="en-US" dirty="0" smtClean="0"/>
              <a:t>光照，纹理贴图，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法线贴图，体纹理等算法</a:t>
            </a:r>
            <a:endParaRPr lang="en-US" altLang="zh-CN" dirty="0" smtClean="0"/>
          </a:p>
          <a:p>
            <a:r>
              <a:rPr lang="en-US" altLang="zh-CN" dirty="0" smtClean="0"/>
              <a:t>Geometry </a:t>
            </a:r>
            <a:r>
              <a:rPr lang="en-US" altLang="zh-CN" dirty="0" err="1" smtClean="0"/>
              <a:t>Shader</a:t>
            </a:r>
            <a:r>
              <a:rPr lang="zh-CN" altLang="en-US" dirty="0" smtClean="0"/>
              <a:t>于</a:t>
            </a:r>
            <a:r>
              <a:rPr lang="en-US" altLang="zh-CN" dirty="0" smtClean="0"/>
              <a:t>OpenGL 3</a:t>
            </a:r>
            <a:r>
              <a:rPr lang="zh-CN" altLang="en-US" dirty="0" smtClean="0"/>
              <a:t>加入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它可以参与完成：粒子火焰，</a:t>
            </a:r>
            <a:r>
              <a:rPr lang="en-US" altLang="zh-CN" dirty="0" smtClean="0"/>
              <a:t>Shadow</a:t>
            </a:r>
            <a:br>
              <a:rPr lang="en-US" altLang="zh-CN" dirty="0" smtClean="0"/>
            </a:br>
            <a:r>
              <a:rPr lang="en-US" altLang="zh-CN" dirty="0" smtClean="0"/>
              <a:t>Volume</a:t>
            </a:r>
            <a:r>
              <a:rPr lang="zh-CN" altLang="en-US" dirty="0" smtClean="0"/>
              <a:t>等算法</a:t>
            </a:r>
            <a:endParaRPr lang="en-US" altLang="zh-CN" dirty="0" smtClean="0"/>
          </a:p>
          <a:p>
            <a:r>
              <a:rPr lang="en-US" altLang="zh-CN" dirty="0" smtClean="0"/>
              <a:t>Tessellation Control </a:t>
            </a:r>
            <a:r>
              <a:rPr lang="en-US" altLang="zh-CN" dirty="0" err="1" smtClean="0"/>
              <a:t>Shader</a:t>
            </a:r>
            <a:r>
              <a:rPr lang="zh-CN" altLang="en-US" dirty="0" smtClean="0"/>
              <a:t>和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/>
              <a:t>Tessellation </a:t>
            </a:r>
            <a:r>
              <a:rPr lang="en-US" altLang="zh-CN" dirty="0" smtClean="0"/>
              <a:t>Evaluation </a:t>
            </a:r>
            <a:r>
              <a:rPr lang="en-US" altLang="zh-CN" dirty="0" err="1" smtClean="0"/>
              <a:t>Shader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 smtClean="0"/>
              <a:t>于</a:t>
            </a:r>
            <a:r>
              <a:rPr lang="en-US" altLang="zh-CN" dirty="0" smtClean="0"/>
              <a:t>OpenGL 4</a:t>
            </a:r>
            <a:r>
              <a:rPr lang="zh-CN" altLang="en-US" dirty="0" smtClean="0"/>
              <a:t>加入</a:t>
            </a:r>
            <a:endParaRPr lang="en-US" altLang="zh-CN" dirty="0" smtClean="0"/>
          </a:p>
          <a:p>
            <a:r>
              <a:rPr lang="en-US" altLang="zh-CN" dirty="0" smtClean="0"/>
              <a:t>Compute </a:t>
            </a:r>
            <a:r>
              <a:rPr lang="en-US" altLang="zh-CN" dirty="0" err="1" smtClean="0"/>
              <a:t>Shader</a:t>
            </a:r>
            <a:r>
              <a:rPr lang="zh-CN" altLang="en-US" dirty="0"/>
              <a:t>不</a:t>
            </a:r>
            <a:r>
              <a:rPr lang="zh-CN" altLang="en-US" dirty="0" smtClean="0"/>
              <a:t>参与图形绘制</a:t>
            </a:r>
            <a:endParaRPr lang="en-US" altLang="zh-CN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2332" y="442913"/>
            <a:ext cx="2581275" cy="573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775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OpenGL</a:t>
            </a:r>
            <a:r>
              <a:rPr lang="zh-CN" altLang="en-US" dirty="0" smtClean="0"/>
              <a:t>着色器语言</a:t>
            </a:r>
            <a:r>
              <a:rPr lang="en-US" altLang="zh-CN" dirty="0" smtClean="0"/>
              <a:t>(GLSL)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29125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 smtClean="0"/>
              <a:t>代码风格与</a:t>
            </a:r>
            <a:r>
              <a:rPr lang="en-US" altLang="zh-CN" dirty="0" smtClean="0"/>
              <a:t>C/C++</a:t>
            </a:r>
            <a:r>
              <a:rPr lang="zh-CN" altLang="en-US" dirty="0" smtClean="0"/>
              <a:t>类似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void main()</a:t>
            </a:r>
          </a:p>
          <a:p>
            <a:pPr lvl="1"/>
            <a:r>
              <a:rPr lang="zh-CN" altLang="en-US" dirty="0" smtClean="0"/>
              <a:t>条件分支与循环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宏定义</a:t>
            </a:r>
            <a:endParaRPr lang="en-US" altLang="zh-CN" dirty="0" smtClean="0"/>
          </a:p>
          <a:p>
            <a:pPr lvl="1"/>
            <a:r>
              <a:rPr lang="en-US" altLang="zh-CN" dirty="0"/>
              <a:t>……</a:t>
            </a:r>
            <a:endParaRPr lang="en-US" altLang="zh-CN" dirty="0" smtClean="0"/>
          </a:p>
          <a:p>
            <a:r>
              <a:rPr lang="zh-CN" altLang="en-US" dirty="0" smtClean="0"/>
              <a:t>有较少的</a:t>
            </a:r>
            <a:r>
              <a:rPr lang="zh-CN" altLang="en-US" dirty="0"/>
              <a:t>基础</a:t>
            </a:r>
            <a:r>
              <a:rPr lang="zh-CN" altLang="en-US" dirty="0" smtClean="0"/>
              <a:t>类型和对应的向量</a:t>
            </a:r>
            <a:r>
              <a:rPr lang="en-US" altLang="zh-CN" dirty="0" smtClean="0"/>
              <a:t>/</a:t>
            </a:r>
            <a:r>
              <a:rPr lang="zh-CN" altLang="en-US" dirty="0" smtClean="0"/>
              <a:t>矩阵类型</a:t>
            </a:r>
            <a:r>
              <a:rPr lang="zh-CN" altLang="en-US" dirty="0"/>
              <a:t>；</a:t>
            </a:r>
            <a:r>
              <a:rPr lang="zh-CN" altLang="en-US" dirty="0" smtClean="0"/>
              <a:t>有结构体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（以下类型中*可以为</a:t>
            </a:r>
            <a:r>
              <a:rPr lang="en-US" altLang="zh-CN" dirty="0" smtClean="0"/>
              <a:t>2, 3, 4</a:t>
            </a:r>
            <a:r>
              <a:rPr lang="zh-CN" altLang="en-US" dirty="0" smtClean="0"/>
              <a:t>）</a:t>
            </a:r>
            <a:endParaRPr lang="en-US" altLang="zh-CN" dirty="0" smtClean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042444"/>
              </p:ext>
            </p:extLst>
          </p:nvPr>
        </p:nvGraphicFramePr>
        <p:xfrm>
          <a:off x="2032000" y="4154750"/>
          <a:ext cx="8127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64990737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9458828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7792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基础类型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向量类型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矩阵类型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856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bool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bvec</a:t>
                      </a:r>
                      <a:r>
                        <a:rPr lang="en-US" altLang="zh-CN" dirty="0" smtClean="0"/>
                        <a:t>*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-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197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int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ivec</a:t>
                      </a:r>
                      <a:r>
                        <a:rPr lang="en-US" altLang="zh-CN" dirty="0" smtClean="0"/>
                        <a:t>*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-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128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uint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uvec</a:t>
                      </a:r>
                      <a:r>
                        <a:rPr lang="en-US" altLang="zh-CN" dirty="0" smtClean="0"/>
                        <a:t>*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-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377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float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fvec</a:t>
                      </a:r>
                      <a:r>
                        <a:rPr lang="en-US" altLang="zh-CN" dirty="0" smtClean="0"/>
                        <a:t>*</a:t>
                      </a:r>
                      <a:r>
                        <a:rPr lang="en-US" altLang="zh-CN" baseline="0" dirty="0" smtClean="0"/>
                        <a:t> / </a:t>
                      </a:r>
                      <a:r>
                        <a:rPr lang="en-US" altLang="zh-CN" baseline="0" dirty="0" err="1" smtClean="0"/>
                        <a:t>vec</a:t>
                      </a:r>
                      <a:r>
                        <a:rPr lang="en-US" altLang="zh-CN" baseline="0" dirty="0" smtClean="0"/>
                        <a:t>*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fmat</a:t>
                      </a:r>
                      <a:r>
                        <a:rPr lang="en-US" altLang="zh-CN" dirty="0" smtClean="0"/>
                        <a:t>*×</a:t>
                      </a:r>
                      <a:r>
                        <a:rPr lang="zh-CN" altLang="en-US" dirty="0" smtClean="0"/>
                        <a:t>* </a:t>
                      </a:r>
                      <a:r>
                        <a:rPr lang="en-US" altLang="zh-CN" dirty="0" smtClean="0"/>
                        <a:t>/ mat*×</a:t>
                      </a:r>
                      <a:r>
                        <a:rPr lang="zh-CN" altLang="en-US" dirty="0" smtClean="0"/>
                        <a:t>*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529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double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dvec</a:t>
                      </a:r>
                      <a:r>
                        <a:rPr lang="en-US" altLang="zh-CN" dirty="0" smtClean="0"/>
                        <a:t>*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 smtClean="0"/>
                        <a:t>dmat</a:t>
                      </a:r>
                      <a:r>
                        <a:rPr lang="en-US" altLang="zh-CN" dirty="0" smtClean="0"/>
                        <a:t>*×*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250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438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OpenGL</a:t>
            </a:r>
            <a:r>
              <a:rPr lang="zh-CN" altLang="en-US" dirty="0" smtClean="0"/>
              <a:t>着色器语言</a:t>
            </a:r>
            <a:r>
              <a:rPr lang="en-US" altLang="zh-CN" dirty="0" smtClean="0"/>
              <a:t>(GLSL)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类型名前有关键字标注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in</a:t>
            </a:r>
            <a:r>
              <a:rPr lang="zh-CN" altLang="en-US" dirty="0" smtClean="0"/>
              <a:t>输入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out</a:t>
            </a:r>
            <a:r>
              <a:rPr lang="zh-CN" altLang="en-US" dirty="0" smtClean="0"/>
              <a:t>输出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uniform</a:t>
            </a:r>
            <a:r>
              <a:rPr lang="zh-CN" altLang="en-US" dirty="0" smtClean="0"/>
              <a:t>通用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在一次</a:t>
            </a:r>
            <a:r>
              <a:rPr lang="zh-CN" altLang="en-US" dirty="0"/>
              <a:t>绘制</a:t>
            </a:r>
            <a:r>
              <a:rPr lang="zh-CN" altLang="en-US" dirty="0" smtClean="0"/>
              <a:t>命令中不会被改变，故着色器中尝试赋值的操作会造成编译错误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使用</a:t>
            </a:r>
            <a:r>
              <a:rPr lang="en-US" altLang="zh-CN" dirty="0" err="1" smtClean="0"/>
              <a:t>glUniform</a:t>
            </a:r>
            <a:r>
              <a:rPr lang="en-US" altLang="zh-CN" dirty="0" smtClean="0"/>
              <a:t>*()</a:t>
            </a:r>
            <a:r>
              <a:rPr lang="zh-CN" altLang="en-US" dirty="0" smtClean="0"/>
              <a:t>传入值，直到下一次传入值之前都不会改变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const</a:t>
            </a:r>
            <a:r>
              <a:rPr lang="zh-CN" altLang="en-US" dirty="0" smtClean="0"/>
              <a:t>常量</a:t>
            </a:r>
            <a:endParaRPr lang="en-US" altLang="zh-CN" dirty="0" smtClean="0"/>
          </a:p>
          <a:p>
            <a:r>
              <a:rPr lang="zh-CN" altLang="en-US" dirty="0" smtClean="0"/>
              <a:t>有一些内置的输入输出变量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Vertex </a:t>
            </a:r>
            <a:r>
              <a:rPr lang="en-US" altLang="zh-CN" dirty="0" err="1" smtClean="0"/>
              <a:t>Shader</a:t>
            </a:r>
            <a:r>
              <a:rPr lang="zh-CN" altLang="en-US" dirty="0" smtClean="0"/>
              <a:t>需要给内置输出变量</a:t>
            </a:r>
            <a:r>
              <a:rPr lang="en-US" altLang="zh-CN" dirty="0" err="1" smtClean="0"/>
              <a:t>gl_Position</a:t>
            </a:r>
            <a:r>
              <a:rPr lang="zh-CN" altLang="en-US" dirty="0" smtClean="0"/>
              <a:t>赋值以指定当前顶点位置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Fragment </a:t>
            </a:r>
            <a:r>
              <a:rPr lang="en-US" altLang="zh-CN" dirty="0" err="1" smtClean="0"/>
              <a:t>Shader</a:t>
            </a:r>
            <a:r>
              <a:rPr lang="zh-CN" altLang="en-US" dirty="0" smtClean="0"/>
              <a:t>只需要定义</a:t>
            </a:r>
            <a:r>
              <a:rPr lang="en-US" altLang="zh-CN" dirty="0" smtClean="0"/>
              <a:t>out vec4</a:t>
            </a:r>
            <a:r>
              <a:rPr lang="zh-CN" altLang="en-US" dirty="0" smtClean="0"/>
              <a:t>类型的变量即可作为颜色输出，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需要改变深度时要给</a:t>
            </a:r>
            <a:r>
              <a:rPr lang="en-US" altLang="zh-CN" dirty="0" err="1" smtClean="0"/>
              <a:t>gl_FragDepth</a:t>
            </a:r>
            <a:r>
              <a:rPr lang="zh-CN" altLang="en-US" dirty="0" smtClean="0"/>
              <a:t>赋值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0914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代码分析：顶点着色器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52402"/>
          </a:xfrm>
        </p:spPr>
        <p:txBody>
          <a:bodyPr>
            <a:normAutofit fontScale="70000" lnSpcReduction="20000"/>
          </a:bodyPr>
          <a:lstStyle/>
          <a:p>
            <a:r>
              <a:rPr lang="zh-CN" altLang="en-US" dirty="0"/>
              <a:t>顶点着色器完成的工作是逐顶点</a:t>
            </a:r>
            <a:r>
              <a:rPr lang="zh-CN" altLang="en-US" dirty="0" smtClean="0"/>
              <a:t>处理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所以编码者视角是“输入一个顶点，输出对此顶点的处理结果”</a:t>
            </a:r>
            <a:endParaRPr lang="en-US" altLang="zh-CN" dirty="0" smtClean="0"/>
          </a:p>
          <a:p>
            <a:r>
              <a:rPr lang="en-US" altLang="zh-CN" dirty="0" smtClean="0"/>
              <a:t>#version * core/compatible</a:t>
            </a:r>
          </a:p>
          <a:p>
            <a:pPr lvl="1"/>
            <a:r>
              <a:rPr lang="zh-CN" altLang="en-US" dirty="0" smtClean="0"/>
              <a:t>指定着色器的</a:t>
            </a:r>
            <a:r>
              <a:rPr lang="en-US" altLang="zh-CN" dirty="0" smtClean="0"/>
              <a:t>OpenGL</a:t>
            </a:r>
            <a:r>
              <a:rPr lang="zh-CN" altLang="en-US" dirty="0" smtClean="0"/>
              <a:t>版本。对应的着色器版本应相同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OpenGL3.3</a:t>
            </a:r>
            <a:r>
              <a:rPr lang="zh-CN" altLang="en-US" dirty="0" smtClean="0"/>
              <a:t>之后，</a:t>
            </a:r>
            <a:r>
              <a:rPr lang="en-US" altLang="zh-CN" dirty="0" smtClean="0"/>
              <a:t>330</a:t>
            </a:r>
            <a:r>
              <a:rPr lang="zh-CN" altLang="en-US" dirty="0" smtClean="0"/>
              <a:t>对应</a:t>
            </a:r>
            <a:r>
              <a:rPr lang="en-US" altLang="zh-CN" dirty="0" smtClean="0"/>
              <a:t>3.3</a:t>
            </a:r>
            <a:r>
              <a:rPr lang="zh-CN" altLang="en-US" dirty="0" smtClean="0"/>
              <a:t>，</a:t>
            </a:r>
            <a:r>
              <a:rPr lang="en-US" altLang="zh-CN" dirty="0" smtClean="0"/>
              <a:t>420</a:t>
            </a:r>
            <a:r>
              <a:rPr lang="zh-CN" altLang="en-US" dirty="0" smtClean="0"/>
              <a:t>对应</a:t>
            </a:r>
            <a:r>
              <a:rPr lang="en-US" altLang="zh-CN" dirty="0" smtClean="0"/>
              <a:t>4.2</a:t>
            </a:r>
            <a:r>
              <a:rPr lang="zh-CN" altLang="en-US" dirty="0" smtClean="0"/>
              <a:t>，依次类推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3.3</a:t>
            </a:r>
            <a:r>
              <a:rPr lang="zh-CN" altLang="en-US" dirty="0" smtClean="0"/>
              <a:t>之后许多特性不是后向兼容的，</a:t>
            </a:r>
            <a:r>
              <a:rPr lang="en-US" altLang="zh-CN" dirty="0" smtClean="0"/>
              <a:t>compatible</a:t>
            </a:r>
            <a:r>
              <a:rPr lang="zh-CN" altLang="en-US" dirty="0" smtClean="0"/>
              <a:t>能保留一定兼容性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/>
              <a:t>不</a:t>
            </a:r>
            <a:r>
              <a:rPr lang="zh-CN" altLang="en-US" dirty="0" smtClean="0"/>
              <a:t>指定</a:t>
            </a:r>
            <a:r>
              <a:rPr lang="en-US" altLang="zh-CN" dirty="0" smtClean="0"/>
              <a:t>core/compatible</a:t>
            </a:r>
            <a:r>
              <a:rPr lang="zh-CN" altLang="en-US" dirty="0" smtClean="0"/>
              <a:t>时默认为</a:t>
            </a:r>
            <a:r>
              <a:rPr lang="en-US" altLang="zh-CN" dirty="0" smtClean="0"/>
              <a:t>core</a:t>
            </a:r>
          </a:p>
          <a:p>
            <a:r>
              <a:rPr lang="en-US" altLang="zh-CN" dirty="0" err="1" smtClean="0"/>
              <a:t>u_mvp</a:t>
            </a:r>
            <a:r>
              <a:rPr lang="zh-CN" altLang="en-US" dirty="0" smtClean="0"/>
              <a:t>对应绘制指令中传入的</a:t>
            </a:r>
            <a:r>
              <a:rPr lang="en-US" altLang="zh-CN" dirty="0" err="1" smtClean="0"/>
              <a:t>mvp</a:t>
            </a:r>
            <a:r>
              <a:rPr lang="en-US" altLang="zh-CN" dirty="0" smtClean="0"/>
              <a:t>(</a:t>
            </a:r>
            <a:r>
              <a:rPr lang="zh-CN" altLang="en-US" dirty="0" smtClean="0"/>
              <a:t>模型</a:t>
            </a:r>
            <a:r>
              <a:rPr lang="en-US" altLang="zh-CN" dirty="0" smtClean="0"/>
              <a:t>-</a:t>
            </a:r>
            <a:r>
              <a:rPr lang="zh-CN" altLang="en-US" dirty="0" smtClean="0"/>
              <a:t>视图</a:t>
            </a:r>
            <a:r>
              <a:rPr lang="en-US" altLang="zh-CN" dirty="0" smtClean="0"/>
              <a:t>-</a:t>
            </a:r>
            <a:r>
              <a:rPr lang="zh-CN" altLang="en-US" dirty="0" smtClean="0"/>
              <a:t>投影</a:t>
            </a:r>
            <a:r>
              <a:rPr lang="en-US" altLang="zh-CN" dirty="0" smtClean="0"/>
              <a:t>)</a:t>
            </a:r>
            <a:r>
              <a:rPr lang="zh-CN" altLang="en-US" dirty="0" smtClean="0"/>
              <a:t>矩阵</a:t>
            </a:r>
            <a:endParaRPr lang="en-US" altLang="zh-CN" dirty="0" smtClean="0"/>
          </a:p>
          <a:p>
            <a:r>
              <a:rPr lang="en-US" altLang="zh-CN" dirty="0" err="1" smtClean="0"/>
              <a:t>in_position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in_color</a:t>
            </a:r>
            <a:r>
              <a:rPr lang="zh-CN" altLang="en-US" dirty="0" smtClean="0"/>
              <a:t>对应</a:t>
            </a:r>
            <a:r>
              <a:rPr lang="en-US" altLang="zh-CN" dirty="0" err="1" smtClean="0"/>
              <a:t>glVertexAttribPointer</a:t>
            </a:r>
            <a:r>
              <a:rPr lang="en-US" altLang="zh-CN" dirty="0" smtClean="0"/>
              <a:t>()</a:t>
            </a:r>
            <a:r>
              <a:rPr lang="zh-CN" altLang="en-US" dirty="0" smtClean="0"/>
              <a:t>指定的数据</a:t>
            </a:r>
            <a:endParaRPr lang="en-US" altLang="zh-CN" dirty="0" smtClean="0"/>
          </a:p>
          <a:p>
            <a:r>
              <a:rPr lang="zh-CN" altLang="en-US" dirty="0" smtClean="0"/>
              <a:t>因为缺省</a:t>
            </a:r>
            <a:r>
              <a:rPr lang="en-US" altLang="zh-CN" dirty="0" smtClean="0"/>
              <a:t>Tessellation</a:t>
            </a:r>
            <a:r>
              <a:rPr lang="zh-CN" altLang="en-US" dirty="0" smtClean="0"/>
              <a:t>和</a:t>
            </a:r>
            <a:r>
              <a:rPr lang="en-US" altLang="zh-CN" dirty="0" smtClean="0"/>
              <a:t>Geometry, </a:t>
            </a:r>
            <a:r>
              <a:rPr lang="en-US" altLang="zh-CN" dirty="0" err="1" smtClean="0"/>
              <a:t>pass_color</a:t>
            </a:r>
            <a:r>
              <a:rPr lang="zh-CN" altLang="en-US" dirty="0" smtClean="0"/>
              <a:t>将经过一定处理后传入</a:t>
            </a:r>
            <a:r>
              <a:rPr lang="en-US" altLang="zh-CN" dirty="0" smtClean="0"/>
              <a:t>Fragment </a:t>
            </a:r>
            <a:r>
              <a:rPr lang="en-US" altLang="zh-CN" dirty="0" err="1" smtClean="0"/>
              <a:t>Shader</a:t>
            </a: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288" y="4667250"/>
            <a:ext cx="6381750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616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代码分析：片元着色器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57598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 smtClean="0"/>
              <a:t>片元着色器完成的工作是逐片元</a:t>
            </a:r>
            <a:r>
              <a:rPr lang="en-US" altLang="zh-CN" dirty="0" smtClean="0"/>
              <a:t>(Fragment)</a:t>
            </a:r>
            <a:r>
              <a:rPr lang="zh-CN" altLang="en-US" dirty="0" smtClean="0"/>
              <a:t>处理</a:t>
            </a:r>
            <a:endParaRPr lang="en-US" altLang="zh-CN" dirty="0"/>
          </a:p>
          <a:p>
            <a:pPr lvl="1"/>
            <a:r>
              <a:rPr lang="zh-CN" altLang="en-US" dirty="0" smtClean="0"/>
              <a:t>“片元”可以简单理解为“带有深度信息的像素”，屏幕上的一个像素可能对应</a:t>
            </a:r>
            <a:r>
              <a:rPr lang="en-US" altLang="zh-CN" dirty="0" smtClean="0"/>
              <a:t>0</a:t>
            </a:r>
            <a:r>
              <a:rPr lang="zh-CN" altLang="en-US" dirty="0" smtClean="0"/>
              <a:t>个或多个片元。片元着色器之后的流水线将决定每个像素的颜色由哪些片元决定。</a:t>
            </a:r>
            <a:endParaRPr lang="en-US" altLang="zh-CN" dirty="0" smtClean="0"/>
          </a:p>
          <a:p>
            <a:r>
              <a:rPr lang="en-US" altLang="zh-CN" dirty="0" err="1" smtClean="0"/>
              <a:t>pass_color</a:t>
            </a:r>
            <a:r>
              <a:rPr lang="zh-CN" altLang="en-US" dirty="0" smtClean="0"/>
              <a:t>是经过顶点后处理、图元装配和光栅化后的数据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并不是从顶点着色器直接传出的数据！但它们的确有对应关系</a:t>
            </a:r>
            <a:endParaRPr lang="en-US" altLang="zh-CN" dirty="0" smtClean="0"/>
          </a:p>
          <a:p>
            <a:r>
              <a:rPr lang="en-US" altLang="zh-CN" dirty="0" err="1" smtClean="0"/>
              <a:t>out_color</a:t>
            </a:r>
            <a:r>
              <a:rPr lang="zh-CN" altLang="en-US" dirty="0" smtClean="0"/>
              <a:t>被指定为输出，即颜色输出。最后一维是不透明度</a:t>
            </a:r>
            <a:r>
              <a:rPr lang="en-US" altLang="zh-CN" dirty="0" smtClean="0"/>
              <a:t>(Alpha)</a:t>
            </a:r>
          </a:p>
          <a:p>
            <a:r>
              <a:rPr lang="zh-CN" altLang="en-US" dirty="0" smtClean="0"/>
              <a:t>此处只是简单地将输入</a:t>
            </a:r>
            <a:r>
              <a:rPr lang="zh-CN" altLang="en-US" dirty="0"/>
              <a:t>的</a:t>
            </a:r>
            <a:r>
              <a:rPr lang="zh-CN" altLang="en-US" dirty="0" smtClean="0"/>
              <a:t>颜色指定为输出颜色</a:t>
            </a:r>
            <a:endParaRPr lang="en-US" altLang="zh-CN" dirty="0" smtClean="0"/>
          </a:p>
          <a:p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700" y="4595813"/>
            <a:ext cx="4800600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49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相关概念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顶点和片元着色器之间发生了什么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顶点后处理</a:t>
            </a:r>
            <a:r>
              <a:rPr lang="en-US" altLang="zh-CN" dirty="0" smtClean="0"/>
              <a:t>Vertex Post-Processing</a:t>
            </a:r>
          </a:p>
          <a:p>
            <a:pPr lvl="2"/>
            <a:r>
              <a:rPr lang="zh-CN" altLang="en-US" dirty="0" smtClean="0"/>
              <a:t>变换反馈</a:t>
            </a:r>
            <a:r>
              <a:rPr lang="en-US" altLang="zh-CN" dirty="0" smtClean="0"/>
              <a:t>(Transform Feedback)</a:t>
            </a:r>
            <a:r>
              <a:rPr lang="zh-CN" altLang="en-US" dirty="0"/>
              <a:t>：</a:t>
            </a:r>
            <a:r>
              <a:rPr lang="zh-CN" altLang="en-US" dirty="0" smtClean="0"/>
              <a:t>可用于粒子系统仿真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裁剪：裁剪掉可视范围外的图元</a:t>
            </a:r>
            <a:r>
              <a:rPr lang="en-US" altLang="zh-CN" dirty="0" smtClean="0"/>
              <a:t>(Primitive)</a:t>
            </a:r>
          </a:p>
          <a:p>
            <a:pPr lvl="2"/>
            <a:r>
              <a:rPr lang="zh-CN" altLang="en-US" dirty="0"/>
              <a:t>正则</a:t>
            </a:r>
            <a:r>
              <a:rPr lang="zh-CN" altLang="en-US" dirty="0" smtClean="0"/>
              <a:t>化：将乘以变换矩阵后的顶点位置正则化，以得到正确的坐标值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视口转换：决定从当前空间向视口空间变换的矩阵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图元装配</a:t>
            </a:r>
            <a:r>
              <a:rPr lang="en-US" altLang="zh-CN" dirty="0"/>
              <a:t>Primitive Assembly</a:t>
            </a:r>
          </a:p>
          <a:p>
            <a:pPr lvl="2"/>
            <a:r>
              <a:rPr lang="zh-CN" altLang="en-US" dirty="0" smtClean="0"/>
              <a:t>基础图元包括点、线、三角面片等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图元装配完成的工作是将顶点流组装为基础图元</a:t>
            </a:r>
            <a:endParaRPr lang="en-US" altLang="zh-CN" dirty="0" smtClean="0"/>
          </a:p>
          <a:p>
            <a:pPr lvl="2"/>
            <a:r>
              <a:rPr lang="zh-CN" altLang="en-US" dirty="0"/>
              <a:t>如果开启</a:t>
            </a:r>
            <a:r>
              <a:rPr lang="zh-CN" altLang="en-US" dirty="0" smtClean="0"/>
              <a:t>了面剔除</a:t>
            </a:r>
            <a:r>
              <a:rPr lang="en-US" altLang="zh-CN" dirty="0" smtClean="0"/>
              <a:t>(Face Culling)</a:t>
            </a:r>
            <a:r>
              <a:rPr lang="zh-CN" altLang="en-US" dirty="0" smtClean="0"/>
              <a:t>，图元装配也会剔除指定的面（一般是背面）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光栅化</a:t>
            </a:r>
            <a:r>
              <a:rPr lang="en-US" altLang="zh-CN" dirty="0" smtClean="0"/>
              <a:t>Rasterization</a:t>
            </a:r>
          </a:p>
          <a:p>
            <a:pPr lvl="2"/>
            <a:r>
              <a:rPr lang="zh-CN" altLang="en-US" dirty="0" smtClean="0"/>
              <a:t>光栅化按像素对基础图元采样，将基础图元“打散”为片元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1428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相关概念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插值处理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三角面片上的某个片元位于三顶点之间，它得到的输入值是这三个顶点输出值的插值</a:t>
            </a:r>
            <a:r>
              <a:rPr lang="en-US" altLang="zh-CN" dirty="0" smtClean="0"/>
              <a:t>(</a:t>
            </a:r>
            <a:r>
              <a:rPr lang="zh-CN" altLang="en-US" dirty="0" smtClean="0"/>
              <a:t>中间值</a:t>
            </a:r>
            <a:r>
              <a:rPr lang="en-US" altLang="zh-CN" dirty="0" smtClean="0"/>
              <a:t>)</a:t>
            </a:r>
          </a:p>
          <a:p>
            <a:pPr lvl="1"/>
            <a:r>
              <a:rPr lang="zh-CN" altLang="en-US" dirty="0" smtClean="0"/>
              <a:t>举例：颜色（示例）；法向量（</a:t>
            </a:r>
            <a:r>
              <a:rPr lang="en-US" altLang="zh-CN" dirty="0" err="1" smtClean="0"/>
              <a:t>Phong</a:t>
            </a:r>
            <a:r>
              <a:rPr lang="zh-CN" altLang="en-US" dirty="0" smtClean="0"/>
              <a:t>光照）</a:t>
            </a: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407" y="3058025"/>
            <a:ext cx="2934717" cy="304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402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调试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Visual Studio</a:t>
            </a:r>
          </a:p>
          <a:p>
            <a:r>
              <a:rPr lang="en-US" altLang="zh-CN" dirty="0" smtClean="0"/>
              <a:t>Debug Output</a:t>
            </a:r>
          </a:p>
          <a:p>
            <a:r>
              <a:rPr lang="en-US" altLang="zh-CN" dirty="0" smtClean="0"/>
              <a:t>GLSL-Debugger</a:t>
            </a:r>
          </a:p>
          <a:p>
            <a:pPr lvl="1"/>
            <a:r>
              <a:rPr lang="en-US" altLang="zh-CN" dirty="0"/>
              <a:t>http://glsl-debugger.github.io</a:t>
            </a:r>
            <a:r>
              <a:rPr lang="en-US" altLang="zh-CN" dirty="0" smtClean="0"/>
              <a:t>/</a:t>
            </a:r>
          </a:p>
          <a:p>
            <a:r>
              <a:rPr lang="en-US" altLang="zh-CN" dirty="0" smtClean="0"/>
              <a:t>AMD </a:t>
            </a:r>
            <a:r>
              <a:rPr lang="en-US" altLang="zh-CN" dirty="0" err="1" smtClean="0"/>
              <a:t>PerfStudio</a:t>
            </a:r>
            <a:endParaRPr lang="en-US" altLang="zh-CN" dirty="0" smtClean="0"/>
          </a:p>
          <a:p>
            <a:r>
              <a:rPr lang="en-US" altLang="zh-CN" dirty="0" smtClean="0"/>
              <a:t>NVIDIA </a:t>
            </a:r>
            <a:r>
              <a:rPr lang="en-US" altLang="zh-CN" dirty="0" err="1" smtClean="0"/>
              <a:t>Nsight</a:t>
            </a:r>
            <a:endParaRPr lang="en-US" altLang="zh-CN" dirty="0" smtClean="0"/>
          </a:p>
          <a:p>
            <a:r>
              <a:rPr lang="en-US" altLang="zh-CN" dirty="0"/>
              <a:t>……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4782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谢谢！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从此处开始，自由探索</a:t>
            </a:r>
            <a:r>
              <a:rPr lang="en-US" altLang="zh-CN" dirty="0" smtClean="0"/>
              <a:t>OpenGL</a:t>
            </a:r>
            <a:r>
              <a:rPr lang="zh-CN" altLang="en-US" dirty="0" smtClean="0"/>
              <a:t>的各种功能和算法吧！</a:t>
            </a:r>
            <a:endParaRPr lang="en-US" altLang="zh-CN" dirty="0" smtClean="0"/>
          </a:p>
          <a:p>
            <a:r>
              <a:rPr lang="zh-CN" altLang="en-US" dirty="0" smtClean="0"/>
              <a:t>学习网站</a:t>
            </a:r>
            <a:endParaRPr lang="en-US" altLang="zh-CN" dirty="0" smtClean="0"/>
          </a:p>
          <a:p>
            <a:pPr lvl="1"/>
            <a:r>
              <a:rPr lang="en-US" altLang="zh-CN" dirty="0"/>
              <a:t>http://ogldev.atspace.co.uk</a:t>
            </a:r>
            <a:r>
              <a:rPr lang="en-US" altLang="zh-CN" dirty="0" smtClean="0"/>
              <a:t>/</a:t>
            </a:r>
          </a:p>
          <a:p>
            <a:pPr lvl="1"/>
            <a:r>
              <a:rPr lang="en-US" altLang="zh-CN" dirty="0"/>
              <a:t>http://</a:t>
            </a:r>
            <a:r>
              <a:rPr lang="en-US" altLang="zh-CN" dirty="0" smtClean="0"/>
              <a:t>www.opengl-tutorial.org/</a:t>
            </a:r>
          </a:p>
          <a:p>
            <a:pPr lvl="1"/>
            <a:r>
              <a:rPr lang="en-US" altLang="zh-CN" dirty="0"/>
              <a:t>http://www.learnopengl.com/</a:t>
            </a:r>
          </a:p>
          <a:p>
            <a:r>
              <a:rPr lang="en-US" altLang="zh-CN" dirty="0" smtClean="0"/>
              <a:t>Wiki</a:t>
            </a:r>
          </a:p>
          <a:p>
            <a:pPr lvl="1"/>
            <a:r>
              <a:rPr lang="en-US" altLang="zh-CN" dirty="0"/>
              <a:t>https://</a:t>
            </a:r>
            <a:r>
              <a:rPr lang="en-US" altLang="zh-CN" dirty="0" smtClean="0"/>
              <a:t>www.khronos.org/opengl/wiki/</a:t>
            </a:r>
          </a:p>
          <a:p>
            <a:r>
              <a:rPr lang="zh-CN" altLang="en-US" dirty="0"/>
              <a:t>相关</a:t>
            </a:r>
            <a:endParaRPr lang="en-US" altLang="zh-CN" dirty="0" smtClean="0"/>
          </a:p>
          <a:p>
            <a:pPr lvl="1"/>
            <a:r>
              <a:rPr lang="en-US" altLang="zh-CN" dirty="0"/>
              <a:t>https://www.opengl.org/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369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附录一 </a:t>
            </a:r>
            <a:r>
              <a:rPr lang="en-US" altLang="zh-CN" dirty="0" err="1" smtClean="0"/>
              <a:t>Wavefront</a:t>
            </a:r>
            <a:r>
              <a:rPr lang="en-US" altLang="zh-CN" dirty="0" smtClean="0"/>
              <a:t> .OBJ</a:t>
            </a:r>
            <a:r>
              <a:rPr lang="zh-CN" altLang="en-US" dirty="0" smtClean="0"/>
              <a:t>文件格式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zh-CN" altLang="en-US" dirty="0" smtClean="0"/>
              <a:t>顶点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	v 0.123 0.234 0.345 </a:t>
            </a:r>
            <a:r>
              <a:rPr lang="en-US" altLang="zh-CN" dirty="0" smtClean="0"/>
              <a:t>1.0</a:t>
            </a:r>
          </a:p>
          <a:p>
            <a:pPr marL="0" indent="0">
              <a:buNone/>
            </a:pPr>
            <a:r>
              <a:rPr lang="zh-CN" altLang="en-US" dirty="0" smtClean="0"/>
              <a:t>顶点纹理坐标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vt</a:t>
            </a:r>
            <a:r>
              <a:rPr lang="en-US" altLang="zh-CN" dirty="0"/>
              <a:t> 0.500 </a:t>
            </a:r>
            <a:r>
              <a:rPr lang="en-US" altLang="zh-CN" dirty="0" smtClean="0"/>
              <a:t>1</a:t>
            </a:r>
          </a:p>
          <a:p>
            <a:pPr marL="0" indent="0">
              <a:buNone/>
            </a:pPr>
            <a:r>
              <a:rPr lang="zh-CN" altLang="en-US" dirty="0" smtClean="0"/>
              <a:t>顶点法向量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vn</a:t>
            </a:r>
            <a:r>
              <a:rPr lang="en-US" altLang="zh-CN" dirty="0"/>
              <a:t> 0.707 0.000 </a:t>
            </a:r>
            <a:r>
              <a:rPr lang="en-US" altLang="zh-CN" dirty="0" smtClean="0"/>
              <a:t>0.707</a:t>
            </a:r>
          </a:p>
          <a:p>
            <a:pPr marL="0" indent="0">
              <a:buNone/>
            </a:pPr>
            <a:r>
              <a:rPr lang="zh-CN" altLang="en-US" dirty="0" smtClean="0"/>
              <a:t>面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	f 1 2 3</a:t>
            </a:r>
          </a:p>
          <a:p>
            <a:pPr marL="0" indent="0">
              <a:buNone/>
            </a:pPr>
            <a:r>
              <a:rPr lang="en-US" altLang="zh-CN" dirty="0" smtClean="0"/>
              <a:t>	f </a:t>
            </a:r>
            <a:r>
              <a:rPr lang="en-US" altLang="zh-CN" dirty="0"/>
              <a:t>3/1 4/2 5/3</a:t>
            </a:r>
          </a:p>
          <a:p>
            <a:pPr marL="0" indent="0">
              <a:buNone/>
            </a:pPr>
            <a:r>
              <a:rPr lang="en-US" altLang="zh-CN" dirty="0" smtClean="0"/>
              <a:t>	f </a:t>
            </a:r>
            <a:r>
              <a:rPr lang="en-US" altLang="zh-CN" dirty="0"/>
              <a:t>6/4/1 3/5/3 7/6/5</a:t>
            </a:r>
          </a:p>
          <a:p>
            <a:pPr marL="0" indent="0">
              <a:buNone/>
            </a:pPr>
            <a:r>
              <a:rPr lang="en-US" altLang="zh-CN" dirty="0" smtClean="0"/>
              <a:t>	f </a:t>
            </a:r>
            <a:r>
              <a:rPr lang="en-US" altLang="zh-CN" dirty="0"/>
              <a:t>7//1 8//2 9//</a:t>
            </a:r>
            <a:r>
              <a:rPr lang="en-US" altLang="zh-CN" dirty="0" smtClean="0"/>
              <a:t>3</a:t>
            </a:r>
          </a:p>
          <a:p>
            <a:pPr marL="0" indent="0">
              <a:buNone/>
            </a:pPr>
            <a:r>
              <a:rPr lang="zh-CN" altLang="en-US" dirty="0" smtClean="0"/>
              <a:t>详细说明：</a:t>
            </a:r>
            <a:r>
              <a:rPr lang="en-US" altLang="zh-CN" dirty="0" smtClean="0"/>
              <a:t>http</a:t>
            </a:r>
            <a:r>
              <a:rPr lang="en-US" altLang="zh-CN" dirty="0"/>
              <a:t>://www.cs.utah.edu/~boulos/cs3505/obj_spec.pdf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245" y="1518716"/>
            <a:ext cx="5029932" cy="411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219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附录二 骨骼动画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“骨骼”是一系列有层次的变换矩阵，通过改变变换矩阵的值影响与其相关联的顶点位置</a:t>
            </a:r>
            <a:endParaRPr lang="en-US" altLang="zh-CN" dirty="0" smtClean="0"/>
          </a:p>
          <a:p>
            <a:r>
              <a:rPr lang="zh-CN" altLang="en-US" dirty="0" smtClean="0"/>
              <a:t>模型的顶点与</a:t>
            </a:r>
            <a:r>
              <a:rPr lang="en-US" altLang="zh-CN" dirty="0" smtClean="0"/>
              <a:t>0</a:t>
            </a:r>
            <a:r>
              <a:rPr lang="zh-CN" altLang="en-US" dirty="0" smtClean="0"/>
              <a:t>至多个矩阵相关联，某一顶点最终的变换结果等于它在相关联矩阵上变换结果的加权和</a:t>
            </a:r>
            <a:endParaRPr lang="en-US" altLang="zh-CN" dirty="0" smtClean="0"/>
          </a:p>
          <a:p>
            <a:r>
              <a:rPr lang="zh-CN" altLang="en-US" dirty="0" smtClean="0"/>
              <a:t>动画通过设置关键帧，并在关键帧之间插值实现连续的运动。</a:t>
            </a:r>
            <a:endParaRPr lang="en-US" altLang="zh-CN" dirty="0" smtClean="0"/>
          </a:p>
          <a:p>
            <a:r>
              <a:rPr lang="zh-CN" altLang="en-US" dirty="0" smtClean="0"/>
              <a:t>教程：</a:t>
            </a:r>
            <a:r>
              <a:rPr lang="en-US" altLang="zh-CN" dirty="0"/>
              <a:t>http://ogldev.atspace.co.uk/www/tutorial38/tutorial38.html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6162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附录三 </a:t>
            </a:r>
            <a:r>
              <a:rPr lang="en-US" altLang="zh-CN" dirty="0" smtClean="0"/>
              <a:t>Unity/Unreal </a:t>
            </a:r>
            <a:r>
              <a:rPr lang="en-US" altLang="zh-CN" dirty="0" err="1" smtClean="0"/>
              <a:t>Shader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在游戏引擎</a:t>
            </a:r>
            <a:r>
              <a:rPr lang="en-US" altLang="zh-CN" dirty="0" smtClean="0"/>
              <a:t>Unity3D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UnrealEngine</a:t>
            </a:r>
            <a:r>
              <a:rPr lang="zh-CN" altLang="en-US" dirty="0" smtClean="0"/>
              <a:t>中，</a:t>
            </a:r>
            <a:r>
              <a:rPr lang="en-US" altLang="zh-CN" dirty="0" err="1" smtClean="0"/>
              <a:t>Shader</a:t>
            </a:r>
            <a:r>
              <a:rPr lang="zh-CN" altLang="en-US" dirty="0" smtClean="0"/>
              <a:t>也是实现视觉效果的重要部分</a:t>
            </a:r>
            <a:endParaRPr lang="en-US" altLang="zh-CN" dirty="0" smtClean="0"/>
          </a:p>
          <a:p>
            <a:r>
              <a:rPr lang="en-US" altLang="zh-CN" dirty="0" smtClean="0"/>
              <a:t>Unity</a:t>
            </a:r>
            <a:r>
              <a:rPr lang="zh-CN" altLang="en-US" dirty="0" smtClean="0"/>
              <a:t>的</a:t>
            </a:r>
            <a:r>
              <a:rPr lang="en-US" altLang="zh-CN" dirty="0" err="1" smtClean="0"/>
              <a:t>Shader</a:t>
            </a:r>
            <a:r>
              <a:rPr lang="zh-CN" altLang="en-US" dirty="0" smtClean="0"/>
              <a:t>使用的语言是</a:t>
            </a:r>
            <a:r>
              <a:rPr lang="en-US" altLang="zh-CN" dirty="0" smtClean="0"/>
              <a:t>Cg</a:t>
            </a:r>
            <a:r>
              <a:rPr lang="zh-CN" altLang="en-US" dirty="0" smtClean="0"/>
              <a:t>或</a:t>
            </a:r>
            <a:r>
              <a:rPr lang="en-US" altLang="zh-CN" dirty="0" smtClean="0"/>
              <a:t>HLSL</a:t>
            </a:r>
          </a:p>
          <a:p>
            <a:pPr lvl="1"/>
            <a:r>
              <a:rPr lang="en-US" altLang="zh-CN" dirty="0"/>
              <a:t>https://</a:t>
            </a:r>
            <a:r>
              <a:rPr lang="en-US" altLang="zh-CN" dirty="0" smtClean="0"/>
              <a:t>docs.unity3d.com/Manual/SL-Reference.html</a:t>
            </a:r>
          </a:p>
          <a:p>
            <a:r>
              <a:rPr lang="en-US" altLang="zh-CN" dirty="0" smtClean="0"/>
              <a:t>Unreal</a:t>
            </a:r>
            <a:r>
              <a:rPr lang="zh-CN" altLang="en-US" dirty="0" smtClean="0"/>
              <a:t>的</a:t>
            </a:r>
            <a:r>
              <a:rPr lang="en-US" altLang="zh-CN" dirty="0" err="1" smtClean="0"/>
              <a:t>Shader</a:t>
            </a:r>
            <a:r>
              <a:rPr lang="zh-CN" altLang="en-US" dirty="0" smtClean="0"/>
              <a:t>可以通过</a:t>
            </a:r>
            <a:r>
              <a:rPr lang="en-US" altLang="zh-CN" dirty="0" smtClean="0"/>
              <a:t>Blueprint</a:t>
            </a:r>
            <a:r>
              <a:rPr lang="zh-CN" altLang="en-US" dirty="0" smtClean="0"/>
              <a:t>编辑，也可以直接写</a:t>
            </a:r>
            <a:r>
              <a:rPr lang="en-US" altLang="zh-CN" dirty="0" smtClean="0"/>
              <a:t>HLSL</a:t>
            </a:r>
          </a:p>
          <a:p>
            <a:pPr lvl="1"/>
            <a:r>
              <a:rPr lang="en-US" altLang="zh-CN" dirty="0" smtClean="0"/>
              <a:t>https</a:t>
            </a:r>
            <a:r>
              <a:rPr lang="en-US" altLang="zh-CN" dirty="0"/>
              <a:t>://</a:t>
            </a:r>
            <a:r>
              <a:rPr lang="en-US" altLang="zh-CN" dirty="0" smtClean="0"/>
              <a:t>docs.unrealengine.com/en-US/Programming/Rendering/ShaderDevelopment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2293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附录三 </a:t>
            </a:r>
            <a:r>
              <a:rPr lang="en-US" altLang="zh-CN" dirty="0" smtClean="0"/>
              <a:t>Unity/Unreal </a:t>
            </a:r>
            <a:r>
              <a:rPr lang="en-US" altLang="zh-CN" dirty="0" err="1" smtClean="0"/>
              <a:t>Shader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05" y="1825625"/>
            <a:ext cx="8115590" cy="4351338"/>
          </a:xfrm>
        </p:spPr>
      </p:pic>
    </p:spTree>
    <p:extLst>
      <p:ext uri="{BB962C8B-B14F-4D97-AF65-F5344CB8AC3E}">
        <p14:creationId xmlns:p14="http://schemas.microsoft.com/office/powerpoint/2010/main" val="276658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从入门到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真实感光照明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光线跟踪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辐射度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光子映射</a:t>
            </a:r>
            <a:endParaRPr lang="en-US" altLang="zh-CN" dirty="0" smtClean="0"/>
          </a:p>
          <a:p>
            <a:r>
              <a:rPr lang="zh-CN" altLang="en-US" dirty="0"/>
              <a:t>纹理</a:t>
            </a:r>
            <a:r>
              <a:rPr lang="zh-CN" altLang="en-US" dirty="0" smtClean="0"/>
              <a:t>映射进阶</a:t>
            </a:r>
            <a:endParaRPr lang="en-US" altLang="zh-CN" dirty="0" smtClean="0"/>
          </a:p>
          <a:p>
            <a:pPr lvl="1"/>
            <a:r>
              <a:rPr lang="zh-CN" altLang="en-US" dirty="0"/>
              <a:t>法线</a:t>
            </a:r>
            <a:r>
              <a:rPr lang="zh-CN" altLang="en-US" dirty="0" smtClean="0"/>
              <a:t>贴图</a:t>
            </a:r>
            <a:endParaRPr lang="en-US" altLang="zh-CN" dirty="0" smtClean="0"/>
          </a:p>
          <a:p>
            <a:pPr lvl="1"/>
            <a:r>
              <a:rPr lang="zh-CN" altLang="en-US" dirty="0"/>
              <a:t>凹凸</a:t>
            </a:r>
            <a:r>
              <a:rPr lang="zh-CN" altLang="en-US" dirty="0" smtClean="0"/>
              <a:t>贴图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体纹理</a:t>
            </a:r>
            <a:endParaRPr lang="en-US" altLang="zh-CN" dirty="0" smtClean="0"/>
          </a:p>
          <a:p>
            <a:r>
              <a:rPr lang="zh-CN" altLang="en-US" dirty="0" smtClean="0"/>
              <a:t>阴影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Shadow </a:t>
            </a:r>
            <a:r>
              <a:rPr lang="en-US" altLang="zh-CN" dirty="0" smtClean="0"/>
              <a:t>Volume</a:t>
            </a:r>
          </a:p>
          <a:p>
            <a:r>
              <a:rPr lang="en-US" altLang="zh-CN" dirty="0"/>
              <a:t>……</a:t>
            </a:r>
            <a:endParaRPr lang="en-US" altLang="zh-CN" dirty="0" smtClean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52140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1412</TotalTime>
  <Words>2457</Words>
  <Application>Microsoft Office PowerPoint</Application>
  <PresentationFormat>宽屏</PresentationFormat>
  <Paragraphs>353</Paragraphs>
  <Slides>42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8" baseType="lpstr">
      <vt:lpstr>等线</vt:lpstr>
      <vt:lpstr>等线 Light</vt:lpstr>
      <vt:lpstr>宋体</vt:lpstr>
      <vt:lpstr>Arial</vt:lpstr>
      <vt:lpstr>Times New Roman</vt:lpstr>
      <vt:lpstr>Office 主题​​</vt:lpstr>
      <vt:lpstr>OpenGL编程基础</vt:lpstr>
      <vt:lpstr>场景演示</vt:lpstr>
      <vt:lpstr>课堂目标</vt:lpstr>
      <vt:lpstr>本节课的软硬件环境</vt:lpstr>
      <vt:lpstr>本节课的软硬件环境</vt:lpstr>
      <vt:lpstr>体系结构：层次</vt:lpstr>
      <vt:lpstr>体系结构：芯片组</vt:lpstr>
      <vt:lpstr>体系结构：渲染流程</vt:lpstr>
      <vt:lpstr>环境配置</vt:lpstr>
      <vt:lpstr>示例程序：Triangle</vt:lpstr>
      <vt:lpstr>代码分析：GLFW初始化与终止</vt:lpstr>
      <vt:lpstr>相关概念</vt:lpstr>
      <vt:lpstr>代码分析：GLEW初始化</vt:lpstr>
      <vt:lpstr>代码分析：数据准备</vt:lpstr>
      <vt:lpstr>代码分析：数据准备</vt:lpstr>
      <vt:lpstr>代码分析：注册回调函数</vt:lpstr>
      <vt:lpstr>相关概念</vt:lpstr>
      <vt:lpstr>代码分析：创建/编译/链接着色器程序</vt:lpstr>
      <vt:lpstr>代码分析：创建顶点缓存</vt:lpstr>
      <vt:lpstr>相关概念</vt:lpstr>
      <vt:lpstr>代码分析：指定顶点数据</vt:lpstr>
      <vt:lpstr>代码分析：主循环</vt:lpstr>
      <vt:lpstr>相关概念</vt:lpstr>
      <vt:lpstr>相关概念</vt:lpstr>
      <vt:lpstr>相关概念</vt:lpstr>
      <vt:lpstr>代码分析：绘制</vt:lpstr>
      <vt:lpstr>绘制流程总结</vt:lpstr>
      <vt:lpstr>OpenGL作为状态机</vt:lpstr>
      <vt:lpstr>可编程着色器</vt:lpstr>
      <vt:lpstr>OpenGL着色器语言(GLSL)</vt:lpstr>
      <vt:lpstr>OpenGL着色器语言(GLSL)</vt:lpstr>
      <vt:lpstr>代码分析：顶点着色器</vt:lpstr>
      <vt:lpstr>代码分析：片元着色器</vt:lpstr>
      <vt:lpstr>相关概念</vt:lpstr>
      <vt:lpstr>相关概念</vt:lpstr>
      <vt:lpstr>调试</vt:lpstr>
      <vt:lpstr>谢谢！</vt:lpstr>
      <vt:lpstr>附录一 Wavefront .OBJ文件格式</vt:lpstr>
      <vt:lpstr>附录二 骨骼动画</vt:lpstr>
      <vt:lpstr>附录三 Unity/Unreal Shader</vt:lpstr>
      <vt:lpstr>附录三 Unity/Unreal Shader</vt:lpstr>
      <vt:lpstr>从入门到……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OpenGL编程基础</dc:title>
  <dc:creator>Graphics</dc:creator>
  <cp:lastModifiedBy>易康睿</cp:lastModifiedBy>
  <cp:revision>478</cp:revision>
  <dcterms:created xsi:type="dcterms:W3CDTF">2018-03-16T13:40:12Z</dcterms:created>
  <dcterms:modified xsi:type="dcterms:W3CDTF">2018-03-19T10:25:33Z</dcterms:modified>
</cp:coreProperties>
</file>